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DDDB7F7-753F-462E-A064-C1175AD567C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4DEEEE-CED7-4BD7-99C0-ADA8A87F6D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5CFD48-FB1D-466F-8AF1-FB81FA9C76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493834-E811-4880-8CE9-85764F970D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B3BD25-2880-4F14-942A-29BDB212E8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F70AD8-E5E8-492F-94CE-74B664EE34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2C961E-2B1F-40C2-A557-774AE18E21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76B381-4640-43F6-9AC6-666F4D4792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CF0882-C46B-4B0A-9357-E11040D52D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91095E-7FE9-49AE-B57C-BC80C5C066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D32D06-03F6-48E5-83BF-ED2E2DF4F5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F4911E-B8CC-4221-9E79-D4F3003913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729449-AAE9-4A49-B8CC-2B22172145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05766C-BCE6-41EF-95A7-9290F32E6F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7C3974-56F8-430B-A9BE-0EED53D9DB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71A789-F15F-4B4D-9A34-B5B3847A30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1047600" y="952560"/>
            <a:ext cx="166780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pc="337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PROYECTO PARTE I · IEE3753 </a:t>
            </a:r>
            <a:r>
              <a:rPr lang="en-US" sz="2100" b="0" u="none" spc="337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2026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47600" y="1541160"/>
            <a:ext cx="2095200" cy="18720"/>
          </a:xfrm>
          <a:prstGeom prst="rect">
            <a:avLst/>
          </a:prstGeom>
          <a:solidFill>
            <a:srgbClr val="F7AD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047600" y="3865320"/>
            <a:ext cx="16678080" cy="19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200" b="1" u="none" spc="-145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Filtro de interpolación lineal </a:t>
            </a:r>
            <a:r>
              <a:rPr lang="en-US" sz="7200" b="1" u="none" spc="-145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×4 </a:t>
            </a:r>
            <a:r>
              <a:rPr lang="en-US" sz="7200" b="1" u="none" spc="-145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6 bits · GF180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047600" y="8014320"/>
            <a:ext cx="2636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CURSO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370040" y="8014320"/>
            <a:ext cx="2801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TECNOLOGÍA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614440" y="8014320"/>
            <a:ext cx="1676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ENTREGA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047600" y="8399160"/>
            <a:ext cx="26366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IEE3753 · 2026-1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370040" y="8399160"/>
            <a:ext cx="2801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GF180MCU </a:t>
            </a: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· 180 nm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8614440" y="8399160"/>
            <a:ext cx="167616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27 de mayo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1047600" y="9140040"/>
            <a:ext cx="16678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INTEGRANTES · Vicente Florez · Mateo de la Cuadra · Alonso Rivera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1047600" y="419040"/>
            <a:ext cx="4673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01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IMPLEMENTACIÓN PROPUESTA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9336240" y="419040"/>
            <a:ext cx="814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EL FIR DE 7 TAPS COLAPSA A UN INTERPOLADOR DE 2 PUNTOS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47600" y="952560"/>
            <a:ext cx="166780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El FIR colapsa a un interpolador de 2 puntos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1409760" y="3312000"/>
            <a:ext cx="81781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- El enunciado define un FIR triangular de 7 coeficientes: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409760" y="3774600"/>
            <a:ext cx="86918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h = [ ¼ , ½ , ¾ , 1 , ¾ , ½ , ¼ ]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1409760" y="4765320"/>
            <a:ext cx="7962840" cy="163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7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- Sólo se necesitan las dos muestras vecinas </a:t>
            </a:r>
            <a:r>
              <a:rPr lang="en-US" sz="217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x_old y x_new</a:t>
            </a:r>
            <a:r>
              <a:rPr lang="en-US" sz="217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. Las 4 salidas son combinaciones convexas → sumas, shifts y un mux.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7769160" y="3536640"/>
            <a:ext cx="104724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1409760" y="5943600"/>
            <a:ext cx="7984080" cy="8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1409760" y="6231600"/>
            <a:ext cx="86918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Se evita una línea de retardo de 7 muestras y cualquier multiplicador.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10382400" y="2971800"/>
            <a:ext cx="6857640" cy="3326760"/>
          </a:xfrm>
          <a:prstGeom prst="roundRect">
            <a:avLst>
              <a:gd name="adj" fmla="val 1145"/>
            </a:avLst>
          </a:prstGeom>
          <a:solidFill>
            <a:srgbClr val="1E2329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10732320" y="3283920"/>
            <a:ext cx="63421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pc="252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LAS 4 FASES DE SALIDA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10732320" y="3815280"/>
            <a:ext cx="634212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90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φ₀ </a:t>
            </a:r>
            <a:r>
              <a:rPr lang="en-US" sz="22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= x_old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10732320" y="4358160"/>
            <a:ext cx="634212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90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φ₁ </a:t>
            </a:r>
            <a:r>
              <a:rPr lang="en-US" sz="22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= ¾ · x_old + ¼ · x_new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10732320" y="4901040"/>
            <a:ext cx="634212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90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φ₂ </a:t>
            </a:r>
            <a:r>
              <a:rPr lang="en-US" sz="22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= ½ · x_old + ½ · x_new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10732320" y="5444280"/>
            <a:ext cx="634212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90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φ₃ </a:t>
            </a:r>
            <a:r>
              <a:rPr lang="en-US" sz="22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= ¼ · x_old + ¾ · x_new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1047600" y="419040"/>
            <a:ext cx="6331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02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DIAGRAMA GENERAL DE LA ARQUITECTURA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13873680" y="419040"/>
            <a:ext cx="3467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VISTA DE NIVEL SUPERIOR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1047600" y="952560"/>
            <a:ext cx="166780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Arquitectura de nivel superior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1047600" y="2118240"/>
            <a:ext cx="8381520" cy="7329960"/>
          </a:xfrm>
          <a:prstGeom prst="roundRect">
            <a:avLst>
              <a:gd name="adj" fmla="val 520"/>
            </a:avLst>
          </a:prstGeom>
          <a:solidFill>
            <a:srgbClr val="121212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0" descr="preencoded.png"/>
          <p:cNvPicPr/>
          <p:nvPr/>
        </p:nvPicPr>
        <p:blipFill>
          <a:blip r:embed="rId1"/>
          <a:stretch/>
        </p:blipFill>
        <p:spPr>
          <a:xfrm>
            <a:off x="1621800" y="2354040"/>
            <a:ext cx="7233120" cy="685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4"/>
          <p:cNvSpPr/>
          <p:nvPr/>
        </p:nvSpPr>
        <p:spPr>
          <a:xfrm>
            <a:off x="10325160" y="2169000"/>
            <a:ext cx="77342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- Cadena entrada → salida en un </a:t>
            </a: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único dominio de reloj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10325160" y="2514600"/>
            <a:ext cx="71222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Sin CDC ni dobles registros de cruce.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10325160" y="3429000"/>
            <a:ext cx="713304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- i_CK con tasa de salida = 4 · fs.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Una muestra de salida por ciclo.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10325160" y="4836960"/>
            <a:ext cx="7133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- Contador de fase de 2 bits → </a:t>
            </a:r>
            <a:r>
              <a:rPr lang="en-US" sz="25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cuenta[1:0]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(selector del MUX) y </a:t>
            </a:r>
            <a:r>
              <a:rPr lang="en-US" sz="25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load_en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10325160" y="6172200"/>
            <a:ext cx="713304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- La entrada se consume una vez cada 4 ciclos; la salida entrega una fase por ciclo.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1"/>
          <p:cNvSpPr/>
          <p:nvPr/>
        </p:nvSpPr>
        <p:spPr>
          <a:xfrm>
            <a:off x="9963000" y="8537400"/>
            <a:ext cx="209160" cy="209160"/>
          </a:xfrm>
          <a:prstGeom prst="roundRect">
            <a:avLst>
              <a:gd name="adj" fmla="val 13636"/>
            </a:avLst>
          </a:prstGeom>
          <a:solidFill>
            <a:srgbClr val="3899E2"/>
          </a:solidFill>
          <a:ln w="7144">
            <a:solidFill>
              <a:srgbClr val="FFFFFF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10306080" y="8470440"/>
            <a:ext cx="2316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Registros / FF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3"/>
          <p:cNvSpPr/>
          <p:nvPr/>
        </p:nvSpPr>
        <p:spPr>
          <a:xfrm>
            <a:off x="13068360" y="8537400"/>
            <a:ext cx="209160" cy="209160"/>
          </a:xfrm>
          <a:prstGeom prst="roundRect">
            <a:avLst>
              <a:gd name="adj" fmla="val 13636"/>
            </a:avLst>
          </a:prstGeom>
          <a:solidFill>
            <a:srgbClr val="EE921A"/>
          </a:solidFill>
          <a:ln w="7144">
            <a:solidFill>
              <a:srgbClr val="FFFFFF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13411440" y="8470440"/>
            <a:ext cx="1676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Aritmética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5"/>
          <p:cNvSpPr/>
          <p:nvPr/>
        </p:nvSpPr>
        <p:spPr>
          <a:xfrm>
            <a:off x="9963000" y="9164160"/>
            <a:ext cx="209160" cy="209160"/>
          </a:xfrm>
          <a:prstGeom prst="roundRect">
            <a:avLst>
              <a:gd name="adj" fmla="val 13636"/>
            </a:avLst>
          </a:prstGeom>
          <a:solidFill>
            <a:srgbClr val="A975E0"/>
          </a:solidFill>
          <a:ln w="7144">
            <a:solidFill>
              <a:srgbClr val="FFFFFF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10306080" y="9097200"/>
            <a:ext cx="24760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Diseño pendiente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7"/>
          <p:cNvSpPr/>
          <p:nvPr/>
        </p:nvSpPr>
        <p:spPr>
          <a:xfrm>
            <a:off x="13125600" y="9164160"/>
            <a:ext cx="209160" cy="209160"/>
          </a:xfrm>
          <a:prstGeom prst="roundRect">
            <a:avLst>
              <a:gd name="adj" fmla="val 13636"/>
            </a:avLst>
          </a:prstGeom>
          <a:solidFill>
            <a:srgbClr val="62BB78"/>
          </a:solidFill>
          <a:ln w="7144">
            <a:solidFill>
              <a:srgbClr val="FFFFFF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13468320" y="9097200"/>
            <a:ext cx="5558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MUX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9"/>
          <p:cNvSpPr/>
          <p:nvPr/>
        </p:nvSpPr>
        <p:spPr>
          <a:xfrm>
            <a:off x="14367600" y="9164160"/>
            <a:ext cx="209160" cy="209160"/>
          </a:xfrm>
          <a:prstGeom prst="roundRect">
            <a:avLst>
              <a:gd name="adj" fmla="val 13636"/>
            </a:avLst>
          </a:prstGeom>
          <a:solidFill>
            <a:srgbClr val="83878B"/>
          </a:solidFill>
          <a:ln w="7144">
            <a:solidFill>
              <a:srgbClr val="FFFFFF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14710320" y="9097200"/>
            <a:ext cx="21560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E/S · buffers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1047600" y="419040"/>
            <a:ext cx="5879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03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JUSTIFICACIÓN DE LA ARQUITECTURA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14312880" y="419040"/>
            <a:ext cx="3014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DECISIONES DE DISEÑO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1047600" y="952560"/>
            <a:ext cx="166780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Justificación de la arquitectura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1409760" y="2433600"/>
            <a:ext cx="13677840" cy="10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- Reloj único a 4·f</a:t>
            </a:r>
            <a:r>
              <a:rPr lang="en-US" sz="2129" b="1" u="none" strike="noStrike" baseline="-40000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s,in</a:t>
            </a: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.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Evita CDC y registros de cruce; el contador de fase resuelve la temporización entre dominios virtuales.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1409760" y="2433600"/>
            <a:ext cx="1247148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1409760" y="4379400"/>
            <a:ext cx="13449240" cy="8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- Cómputo incremental sobre la diferencia d = x[n+1] − x[n].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Se evita recomputar el producto φ·(x[n+1]−x[n]) desde cero en cada fase.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1409760" y="3692880"/>
            <a:ext cx="14028840" cy="8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1409760" y="5279400"/>
            <a:ext cx="141469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Equivale a realizar interpolación lineal con un solo sumador iterativo + acumulador.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1409760" y="6436800"/>
            <a:ext cx="14135040" cy="11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- Multiplicación por constante.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φ ∈ {0,1,2,3} ⇒ implementable como mux + shifter de 1 bit; no se sintetiza un multiplicador.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1409760" y="5270400"/>
            <a:ext cx="13944960" cy="8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1409760" y="7603200"/>
            <a:ext cx="141469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2·d = d &lt;&lt; 1; 3·d = (d &lt;&lt; 1) + d. División por 4 = shift aritmético a la derecha de 2 posiciones.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1047600" y="419040"/>
            <a:ext cx="5276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04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NÚMERO DE COMPUERTAS LÓGICAS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14605560" y="419040"/>
            <a:ext cx="2713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EXCLUYE FLIP-FLOPS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1047600" y="952560"/>
            <a:ext cx="166780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Conteo de lógica combinacional ≈ </a:t>
            </a:r>
            <a:r>
              <a:rPr lang="en-US" sz="4800" b="1" u="none" spc="-71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50 compuertas equiv.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1047600" y="3075120"/>
            <a:ext cx="2923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1238400" y="2289960"/>
            <a:ext cx="2630520" cy="6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BLOQUE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3971880" y="3075120"/>
            <a:ext cx="457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4162320" y="2289960"/>
            <a:ext cx="4332960" cy="6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OPERACIÓN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8548920" y="3075120"/>
            <a:ext cx="30142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8649000" y="2289960"/>
            <a:ext cx="2723400" cy="6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COMPUERTAS (APROX.)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9"/>
          <p:cNvSpPr/>
          <p:nvPr/>
        </p:nvSpPr>
        <p:spPr>
          <a:xfrm>
            <a:off x="1047600" y="3785040"/>
            <a:ext cx="2923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1238400" y="3253680"/>
            <a:ext cx="263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ADD ①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3971880" y="3785040"/>
            <a:ext cx="457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4162320" y="3253680"/>
            <a:ext cx="433296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S = x_old + x_new (7 b)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8548920" y="3785040"/>
            <a:ext cx="30142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8649000" y="3253680"/>
            <a:ext cx="272340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~6 full-adders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5"/>
          <p:cNvSpPr/>
          <p:nvPr/>
        </p:nvSpPr>
        <p:spPr>
          <a:xfrm>
            <a:off x="1047600" y="4855320"/>
            <a:ext cx="2923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1238400" y="3963600"/>
            <a:ext cx="263052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ADD ② + redondeo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7"/>
          <p:cNvSpPr/>
          <p:nvPr/>
        </p:nvSpPr>
        <p:spPr>
          <a:xfrm>
            <a:off x="3971880" y="4855320"/>
            <a:ext cx="457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8"/>
          <p:cNvSpPr/>
          <p:nvPr/>
        </p:nvSpPr>
        <p:spPr>
          <a:xfrm>
            <a:off x="4162320" y="3963600"/>
            <a:ext cx="433296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S + 2·x_old, luego (+2) &gt;&gt; 2 → φ₁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9"/>
          <p:cNvSpPr/>
          <p:nvPr/>
        </p:nvSpPr>
        <p:spPr>
          <a:xfrm>
            <a:off x="8548920" y="4855320"/>
            <a:ext cx="30142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0"/>
          <p:cNvSpPr/>
          <p:nvPr/>
        </p:nvSpPr>
        <p:spPr>
          <a:xfrm>
            <a:off x="8649000" y="3963600"/>
            <a:ext cx="272340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~7 full-adders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1"/>
          <p:cNvSpPr/>
          <p:nvPr/>
        </p:nvSpPr>
        <p:spPr>
          <a:xfrm>
            <a:off x="1047600" y="5565240"/>
            <a:ext cx="2923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2"/>
          <p:cNvSpPr/>
          <p:nvPr/>
        </p:nvSpPr>
        <p:spPr>
          <a:xfrm>
            <a:off x="1238400" y="5033880"/>
            <a:ext cx="263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&gt;&gt; 1 + redondeo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3"/>
          <p:cNvSpPr/>
          <p:nvPr/>
        </p:nvSpPr>
        <p:spPr>
          <a:xfrm>
            <a:off x="3971880" y="5565240"/>
            <a:ext cx="457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4"/>
          <p:cNvSpPr/>
          <p:nvPr/>
        </p:nvSpPr>
        <p:spPr>
          <a:xfrm>
            <a:off x="4162320" y="5033880"/>
            <a:ext cx="433296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(S + 1) &gt;&gt; 1 → φ₂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5"/>
          <p:cNvSpPr/>
          <p:nvPr/>
        </p:nvSpPr>
        <p:spPr>
          <a:xfrm>
            <a:off x="8548920" y="5565240"/>
            <a:ext cx="30142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6"/>
          <p:cNvSpPr/>
          <p:nvPr/>
        </p:nvSpPr>
        <p:spPr>
          <a:xfrm>
            <a:off x="8649000" y="5033880"/>
            <a:ext cx="272340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~6 half-adders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7"/>
          <p:cNvSpPr/>
          <p:nvPr/>
        </p:nvSpPr>
        <p:spPr>
          <a:xfrm>
            <a:off x="1047600" y="6635520"/>
            <a:ext cx="2923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8"/>
          <p:cNvSpPr/>
          <p:nvPr/>
        </p:nvSpPr>
        <p:spPr>
          <a:xfrm>
            <a:off x="1238400" y="5743800"/>
            <a:ext cx="263052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ADD ③ + redondeo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9"/>
          <p:cNvSpPr/>
          <p:nvPr/>
        </p:nvSpPr>
        <p:spPr>
          <a:xfrm>
            <a:off x="3971880" y="6635520"/>
            <a:ext cx="457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0"/>
          <p:cNvSpPr/>
          <p:nvPr/>
        </p:nvSpPr>
        <p:spPr>
          <a:xfrm>
            <a:off x="4162320" y="5743800"/>
            <a:ext cx="433296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S + 2·x_new, luego (+2) &gt;&gt; 2 → φ₃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1"/>
          <p:cNvSpPr/>
          <p:nvPr/>
        </p:nvSpPr>
        <p:spPr>
          <a:xfrm>
            <a:off x="8548920" y="6635520"/>
            <a:ext cx="30142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2"/>
          <p:cNvSpPr/>
          <p:nvPr/>
        </p:nvSpPr>
        <p:spPr>
          <a:xfrm>
            <a:off x="8649000" y="5743800"/>
            <a:ext cx="272340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~7 full-adders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3"/>
          <p:cNvSpPr/>
          <p:nvPr/>
        </p:nvSpPr>
        <p:spPr>
          <a:xfrm>
            <a:off x="1047600" y="7345440"/>
            <a:ext cx="2923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4"/>
          <p:cNvSpPr/>
          <p:nvPr/>
        </p:nvSpPr>
        <p:spPr>
          <a:xfrm>
            <a:off x="1238400" y="6814080"/>
            <a:ext cx="263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φ₀ = x_old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5"/>
          <p:cNvSpPr/>
          <p:nvPr/>
        </p:nvSpPr>
        <p:spPr>
          <a:xfrm>
            <a:off x="3971880" y="7345440"/>
            <a:ext cx="457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6"/>
          <p:cNvSpPr/>
          <p:nvPr/>
        </p:nvSpPr>
        <p:spPr>
          <a:xfrm>
            <a:off x="4162320" y="6814080"/>
            <a:ext cx="433296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cable directo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7"/>
          <p:cNvSpPr/>
          <p:nvPr/>
        </p:nvSpPr>
        <p:spPr>
          <a:xfrm>
            <a:off x="8548920" y="7345440"/>
            <a:ext cx="30142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8"/>
          <p:cNvSpPr/>
          <p:nvPr/>
        </p:nvSpPr>
        <p:spPr>
          <a:xfrm>
            <a:off x="8649000" y="6814080"/>
            <a:ext cx="272340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0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9"/>
          <p:cNvSpPr/>
          <p:nvPr/>
        </p:nvSpPr>
        <p:spPr>
          <a:xfrm>
            <a:off x="1047600" y="8055720"/>
            <a:ext cx="2923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0"/>
          <p:cNvSpPr/>
          <p:nvPr/>
        </p:nvSpPr>
        <p:spPr>
          <a:xfrm>
            <a:off x="1238400" y="7524000"/>
            <a:ext cx="26305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MUX 4:1 (6 b)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1"/>
          <p:cNvSpPr/>
          <p:nvPr/>
        </p:nvSpPr>
        <p:spPr>
          <a:xfrm>
            <a:off x="3971880" y="8055720"/>
            <a:ext cx="457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2"/>
          <p:cNvSpPr/>
          <p:nvPr/>
        </p:nvSpPr>
        <p:spPr>
          <a:xfrm>
            <a:off x="4162320" y="7524000"/>
            <a:ext cx="433296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reparte las cuatro fases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43"/>
          <p:cNvSpPr/>
          <p:nvPr/>
        </p:nvSpPr>
        <p:spPr>
          <a:xfrm>
            <a:off x="8548920" y="8055720"/>
            <a:ext cx="30142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4"/>
          <p:cNvSpPr/>
          <p:nvPr/>
        </p:nvSpPr>
        <p:spPr>
          <a:xfrm>
            <a:off x="8649000" y="7524000"/>
            <a:ext cx="272340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~18 compuertas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5"/>
          <p:cNvSpPr/>
          <p:nvPr/>
        </p:nvSpPr>
        <p:spPr>
          <a:xfrm>
            <a:off x="1047600" y="9125640"/>
            <a:ext cx="2923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6"/>
          <p:cNvSpPr/>
          <p:nvPr/>
        </p:nvSpPr>
        <p:spPr>
          <a:xfrm>
            <a:off x="1238400" y="8234280"/>
            <a:ext cx="263052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Decodif. de control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7"/>
          <p:cNvSpPr/>
          <p:nvPr/>
        </p:nvSpPr>
        <p:spPr>
          <a:xfrm>
            <a:off x="3971880" y="9125640"/>
            <a:ext cx="457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8"/>
          <p:cNvSpPr/>
          <p:nvPr/>
        </p:nvSpPr>
        <p:spPr>
          <a:xfrm>
            <a:off x="4162320" y="8234280"/>
            <a:ext cx="433296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load_en, sel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9"/>
          <p:cNvSpPr/>
          <p:nvPr/>
        </p:nvSpPr>
        <p:spPr>
          <a:xfrm>
            <a:off x="8548920" y="9125640"/>
            <a:ext cx="30142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0"/>
          <p:cNvSpPr/>
          <p:nvPr/>
        </p:nvSpPr>
        <p:spPr>
          <a:xfrm>
            <a:off x="8649000" y="8234280"/>
            <a:ext cx="272340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~5 compuertas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51"/>
          <p:cNvSpPr/>
          <p:nvPr/>
        </p:nvSpPr>
        <p:spPr>
          <a:xfrm>
            <a:off x="1047600" y="9132840"/>
            <a:ext cx="7500600" cy="9000"/>
          </a:xfrm>
          <a:prstGeom prst="rect">
            <a:avLst/>
          </a:prstGeom>
          <a:solidFill>
            <a:srgbClr val="7C81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2"/>
          <p:cNvSpPr/>
          <p:nvPr/>
        </p:nvSpPr>
        <p:spPr>
          <a:xfrm>
            <a:off x="1238400" y="9349560"/>
            <a:ext cx="73447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Total (equiv.)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53"/>
          <p:cNvSpPr/>
          <p:nvPr/>
        </p:nvSpPr>
        <p:spPr>
          <a:xfrm>
            <a:off x="8548920" y="9132840"/>
            <a:ext cx="3014280" cy="9000"/>
          </a:xfrm>
          <a:prstGeom prst="rect">
            <a:avLst/>
          </a:prstGeom>
          <a:solidFill>
            <a:srgbClr val="7C81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4"/>
          <p:cNvSpPr/>
          <p:nvPr/>
        </p:nvSpPr>
        <p:spPr>
          <a:xfrm>
            <a:off x="8649000" y="9349560"/>
            <a:ext cx="272340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≈ 50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55"/>
          <p:cNvSpPr/>
          <p:nvPr/>
        </p:nvSpPr>
        <p:spPr>
          <a:xfrm>
            <a:off x="12096720" y="2118240"/>
            <a:ext cx="5143320" cy="4718880"/>
          </a:xfrm>
          <a:prstGeom prst="roundRect">
            <a:avLst>
              <a:gd name="adj" fmla="val 807"/>
            </a:avLst>
          </a:prstGeom>
          <a:solidFill>
            <a:srgbClr val="1E2329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6"/>
          <p:cNvSpPr/>
          <p:nvPr/>
        </p:nvSpPr>
        <p:spPr>
          <a:xfrm>
            <a:off x="12427920" y="2411280"/>
            <a:ext cx="461556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pc="252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TRUCOS QUE AHORRAN LÓGICA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7"/>
          <p:cNvSpPr/>
          <p:nvPr/>
        </p:nvSpPr>
        <p:spPr>
          <a:xfrm>
            <a:off x="12789720" y="3302640"/>
            <a:ext cx="4253760" cy="6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Los shifts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&lt;&lt;1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&gt;&gt;1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&gt;&gt;2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son </a:t>
            </a:r>
            <a:r>
              <a:rPr lang="en-US" sz="180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cableado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: 0 compuertas.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8"/>
          <p:cNvSpPr/>
          <p:nvPr/>
        </p:nvSpPr>
        <p:spPr>
          <a:xfrm>
            <a:off x="12789720" y="4196160"/>
            <a:ext cx="4253760" cy="6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La constante de redondeo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+2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se pliega en el </a:t>
            </a:r>
            <a:r>
              <a:rPr lang="en-US" sz="180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carry-in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del sumador → gratis.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9"/>
          <p:cNvSpPr/>
          <p:nvPr/>
        </p:nvSpPr>
        <p:spPr>
          <a:xfrm>
            <a:off x="12789720" y="5089320"/>
            <a:ext cx="425376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φ₀ es ruteo puro (peso unitario, exacto).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0"/>
          <p:cNvSpPr/>
          <p:nvPr/>
        </p:nvSpPr>
        <p:spPr>
          <a:xfrm>
            <a:off x="12789720" y="5653080"/>
            <a:ext cx="4253760" cy="9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Buffers INVX1 / INVX8 se cuentan aparte (celdas de E/S obligatorias, no lógica del filtro).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1047600" y="419040"/>
            <a:ext cx="4070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05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NÚMERO DE FLIP-FLOPS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12556440" y="419040"/>
            <a:ext cx="4824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REGISTROS DEL DATAPATH Y CONTROL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1047600" y="952560"/>
            <a:ext cx="166780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20 flip-flops en total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1047600" y="2766240"/>
            <a:ext cx="37501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238400" y="2289960"/>
            <a:ext cx="3481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BLOQUE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4798440" y="2766240"/>
            <a:ext cx="44863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4988880" y="2289960"/>
            <a:ext cx="4239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ROL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9285120" y="2766240"/>
            <a:ext cx="22780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9399240" y="2289960"/>
            <a:ext cx="19731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FLIP-FLOPS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9"/>
          <p:cNvSpPr/>
          <p:nvPr/>
        </p:nvSpPr>
        <p:spPr>
          <a:xfrm>
            <a:off x="1047600" y="3476520"/>
            <a:ext cx="37501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1238400" y="2944800"/>
            <a:ext cx="34819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Registro x_new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4798440" y="3476520"/>
            <a:ext cx="44863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4988880" y="2944800"/>
            <a:ext cx="42397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muestra de entrada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9285120" y="3476520"/>
            <a:ext cx="22780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9399240" y="2944800"/>
            <a:ext cx="197316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6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5"/>
          <p:cNvSpPr/>
          <p:nvPr/>
        </p:nvSpPr>
        <p:spPr>
          <a:xfrm>
            <a:off x="1047600" y="4186440"/>
            <a:ext cx="37501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1238400" y="3655080"/>
            <a:ext cx="34819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Registro x_old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4798440" y="4186440"/>
            <a:ext cx="44863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4988880" y="3655080"/>
            <a:ext cx="42397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retardo de una muestra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9"/>
          <p:cNvSpPr/>
          <p:nvPr/>
        </p:nvSpPr>
        <p:spPr>
          <a:xfrm>
            <a:off x="9285120" y="4186440"/>
            <a:ext cx="22780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9399240" y="3655080"/>
            <a:ext cx="197316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6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1047600" y="4896720"/>
            <a:ext cx="37501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2"/>
          <p:cNvSpPr/>
          <p:nvPr/>
        </p:nvSpPr>
        <p:spPr>
          <a:xfrm>
            <a:off x="1238400" y="4365000"/>
            <a:ext cx="34819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Contador de fase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3"/>
          <p:cNvSpPr/>
          <p:nvPr/>
        </p:nvSpPr>
        <p:spPr>
          <a:xfrm>
            <a:off x="4798440" y="4896720"/>
            <a:ext cx="44863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4988880" y="4365000"/>
            <a:ext cx="42397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cuenta[1:0] · mod 4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5"/>
          <p:cNvSpPr/>
          <p:nvPr/>
        </p:nvSpPr>
        <p:spPr>
          <a:xfrm>
            <a:off x="9285120" y="4896720"/>
            <a:ext cx="22780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6"/>
          <p:cNvSpPr/>
          <p:nvPr/>
        </p:nvSpPr>
        <p:spPr>
          <a:xfrm>
            <a:off x="9399240" y="4365000"/>
            <a:ext cx="197316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7"/>
          <p:cNvSpPr/>
          <p:nvPr/>
        </p:nvSpPr>
        <p:spPr>
          <a:xfrm>
            <a:off x="1047600" y="5606640"/>
            <a:ext cx="37501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8"/>
          <p:cNvSpPr/>
          <p:nvPr/>
        </p:nvSpPr>
        <p:spPr>
          <a:xfrm>
            <a:off x="1238400" y="5075280"/>
            <a:ext cx="34819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Registro de salida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9"/>
          <p:cNvSpPr/>
          <p:nvPr/>
        </p:nvSpPr>
        <p:spPr>
          <a:xfrm>
            <a:off x="4798440" y="5606640"/>
            <a:ext cx="44863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0"/>
          <p:cNvSpPr/>
          <p:nvPr/>
        </p:nvSpPr>
        <p:spPr>
          <a:xfrm>
            <a:off x="4988880" y="5075280"/>
            <a:ext cx="42397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o_D sincrónica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1"/>
          <p:cNvSpPr/>
          <p:nvPr/>
        </p:nvSpPr>
        <p:spPr>
          <a:xfrm>
            <a:off x="9285120" y="5606640"/>
            <a:ext cx="22780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2"/>
          <p:cNvSpPr/>
          <p:nvPr/>
        </p:nvSpPr>
        <p:spPr>
          <a:xfrm>
            <a:off x="9399240" y="5075280"/>
            <a:ext cx="197316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6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3"/>
          <p:cNvSpPr/>
          <p:nvPr/>
        </p:nvSpPr>
        <p:spPr>
          <a:xfrm>
            <a:off x="1047600" y="5613840"/>
            <a:ext cx="8236800" cy="9000"/>
          </a:xfrm>
          <a:prstGeom prst="rect">
            <a:avLst/>
          </a:prstGeom>
          <a:solidFill>
            <a:srgbClr val="7C81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4"/>
          <p:cNvSpPr/>
          <p:nvPr/>
        </p:nvSpPr>
        <p:spPr>
          <a:xfrm>
            <a:off x="1238400" y="5830560"/>
            <a:ext cx="81028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Total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5"/>
          <p:cNvSpPr/>
          <p:nvPr/>
        </p:nvSpPr>
        <p:spPr>
          <a:xfrm>
            <a:off x="9285120" y="5613840"/>
            <a:ext cx="2278080" cy="9000"/>
          </a:xfrm>
          <a:prstGeom prst="rect">
            <a:avLst/>
          </a:prstGeom>
          <a:solidFill>
            <a:srgbClr val="7C81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6"/>
          <p:cNvSpPr/>
          <p:nvPr/>
        </p:nvSpPr>
        <p:spPr>
          <a:xfrm>
            <a:off x="9399240" y="5830560"/>
            <a:ext cx="19731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20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7"/>
          <p:cNvSpPr/>
          <p:nvPr/>
        </p:nvSpPr>
        <p:spPr>
          <a:xfrm>
            <a:off x="12096720" y="2118240"/>
            <a:ext cx="5143320" cy="5844960"/>
          </a:xfrm>
          <a:prstGeom prst="roundRect">
            <a:avLst>
              <a:gd name="adj" fmla="val 741"/>
            </a:avLst>
          </a:prstGeom>
          <a:solidFill>
            <a:srgbClr val="1E2329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8"/>
          <p:cNvSpPr/>
          <p:nvPr/>
        </p:nvSpPr>
        <p:spPr>
          <a:xfrm>
            <a:off x="12427920" y="2411280"/>
            <a:ext cx="461556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pc="252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JUSTIFICACIÓN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9"/>
          <p:cNvSpPr/>
          <p:nvPr/>
        </p:nvSpPr>
        <p:spPr>
          <a:xfrm>
            <a:off x="12789720" y="2942640"/>
            <a:ext cx="4253760" cy="15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x_new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/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x_old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forman la línea de retardo de 2 etapas — son los </a:t>
            </a:r>
            <a:r>
              <a:rPr lang="en-US" sz="180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flip-flops de entrada obligatorios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y mantienen el par de muestras estable durante los 4 ciclos.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0"/>
          <p:cNvSpPr/>
          <p:nvPr/>
        </p:nvSpPr>
        <p:spPr>
          <a:xfrm>
            <a:off x="12789720" y="4727520"/>
            <a:ext cx="4253760" cy="9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El registro de salida cumple los </a:t>
            </a:r>
            <a:r>
              <a:rPr lang="en-US" sz="180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flip-</a:t>
            </a:r>
            <a:r>
              <a:rPr lang="en-US" sz="180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flops de salida obligatorios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y entrega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o_D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sincrónica.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1"/>
          <p:cNvSpPr/>
          <p:nvPr/>
        </p:nvSpPr>
        <p:spPr>
          <a:xfrm>
            <a:off x="12789720" y="5918040"/>
            <a:ext cx="425376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El contador de 2 bits es el mínimo para indexar 4 fases.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2"/>
          <p:cNvSpPr/>
          <p:nvPr/>
        </p:nvSpPr>
        <p:spPr>
          <a:xfrm>
            <a:off x="12789720" y="6779160"/>
            <a:ext cx="4253760" cy="9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No se necesitan registros intermedios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de pipeline en la versión base (la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aritmética es multiciclo).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1047600" y="419040"/>
            <a:ext cx="4522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06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FRECUENCIA DE OPERACIÓN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13581000" y="419040"/>
            <a:ext cx="3768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CAMINO CRÍTICO · GF180 TT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1047600" y="952560"/>
            <a:ext cx="166780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Presupuesto del camino crítico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1047600" y="1813680"/>
            <a:ext cx="1667808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3300" b="0" u="none" spc="-34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datos de caracterización GF180 · esquina TT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1047600" y="2874600"/>
            <a:ext cx="1083060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Baseline — cadena en serie </a:t>
            </a:r>
            <a:r>
              <a:rPr lang="en-US" sz="255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ADD① → ADD② / ③</a:t>
            </a:r>
            <a:r>
              <a:rPr lang="en-US" sz="255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5"/>
          <p:cNvSpPr/>
          <p:nvPr/>
        </p:nvSpPr>
        <p:spPr>
          <a:xfrm>
            <a:off x="1047600" y="4444560"/>
            <a:ext cx="639036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1238400" y="3967920"/>
            <a:ext cx="6201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SEGMENTO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7"/>
          <p:cNvSpPr/>
          <p:nvPr/>
        </p:nvSpPr>
        <p:spPr>
          <a:xfrm>
            <a:off x="7438320" y="4444560"/>
            <a:ext cx="41245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8"/>
          <p:cNvSpPr/>
          <p:nvPr/>
        </p:nvSpPr>
        <p:spPr>
          <a:xfrm>
            <a:off x="7505280" y="3967920"/>
            <a:ext cx="3867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DELAY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9"/>
          <p:cNvSpPr/>
          <p:nvPr/>
        </p:nvSpPr>
        <p:spPr>
          <a:xfrm>
            <a:off x="1047600" y="5195520"/>
            <a:ext cx="639036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1238400" y="4623120"/>
            <a:ext cx="620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t</a:t>
            </a:r>
            <a:r>
              <a:rPr lang="en-US" sz="1750" b="0" u="none" strike="noStrike" baseline="-40000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cq </a:t>
            </a: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(lanzamiento, rise)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1"/>
          <p:cNvSpPr/>
          <p:nvPr/>
        </p:nvSpPr>
        <p:spPr>
          <a:xfrm>
            <a:off x="7438320" y="5195520"/>
            <a:ext cx="41245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7505280" y="4623120"/>
            <a:ext cx="3867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925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0.299 ns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3"/>
          <p:cNvSpPr/>
          <p:nvPr/>
        </p:nvSpPr>
        <p:spPr>
          <a:xfrm>
            <a:off x="1047600" y="5905440"/>
            <a:ext cx="639036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4"/>
          <p:cNvSpPr/>
          <p:nvPr/>
        </p:nvSpPr>
        <p:spPr>
          <a:xfrm>
            <a:off x="1238400" y="5374080"/>
            <a:ext cx="620100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ADD① interno (CLA 4 b)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5"/>
          <p:cNvSpPr/>
          <p:nvPr/>
        </p:nvSpPr>
        <p:spPr>
          <a:xfrm>
            <a:off x="7438320" y="5905440"/>
            <a:ext cx="41245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6"/>
          <p:cNvSpPr/>
          <p:nvPr/>
        </p:nvSpPr>
        <p:spPr>
          <a:xfrm>
            <a:off x="7505280" y="5374080"/>
            <a:ext cx="38674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0.394 ns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7"/>
          <p:cNvSpPr/>
          <p:nvPr/>
        </p:nvSpPr>
        <p:spPr>
          <a:xfrm>
            <a:off x="1047600" y="6615720"/>
            <a:ext cx="639036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8"/>
          <p:cNvSpPr/>
          <p:nvPr/>
        </p:nvSpPr>
        <p:spPr>
          <a:xfrm>
            <a:off x="1238400" y="6084000"/>
            <a:ext cx="620100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ADD① → ADD②/③ (interconex. + </a:t>
            </a: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lógica)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9"/>
          <p:cNvSpPr/>
          <p:nvPr/>
        </p:nvSpPr>
        <p:spPr>
          <a:xfrm>
            <a:off x="7438320" y="6615720"/>
            <a:ext cx="41245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0"/>
          <p:cNvSpPr/>
          <p:nvPr/>
        </p:nvSpPr>
        <p:spPr>
          <a:xfrm>
            <a:off x="7505280" y="6084000"/>
            <a:ext cx="38674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0.487 ns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1"/>
          <p:cNvSpPr/>
          <p:nvPr/>
        </p:nvSpPr>
        <p:spPr>
          <a:xfrm>
            <a:off x="1047600" y="7325640"/>
            <a:ext cx="639036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2"/>
          <p:cNvSpPr/>
          <p:nvPr/>
        </p:nvSpPr>
        <p:spPr>
          <a:xfrm>
            <a:off x="1238400" y="6794280"/>
            <a:ext cx="620100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ADD②/③ interno (CLA)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3"/>
          <p:cNvSpPr/>
          <p:nvPr/>
        </p:nvSpPr>
        <p:spPr>
          <a:xfrm>
            <a:off x="7438320" y="7325640"/>
            <a:ext cx="41245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4"/>
          <p:cNvSpPr/>
          <p:nvPr/>
        </p:nvSpPr>
        <p:spPr>
          <a:xfrm>
            <a:off x="7505280" y="6794280"/>
            <a:ext cx="38674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0.394 ns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5"/>
          <p:cNvSpPr/>
          <p:nvPr/>
        </p:nvSpPr>
        <p:spPr>
          <a:xfrm>
            <a:off x="1047600" y="8035920"/>
            <a:ext cx="639036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6"/>
          <p:cNvSpPr/>
          <p:nvPr/>
        </p:nvSpPr>
        <p:spPr>
          <a:xfrm>
            <a:off x="1238400" y="7504200"/>
            <a:ext cx="620100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Setup en captura (FF)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7"/>
          <p:cNvSpPr/>
          <p:nvPr/>
        </p:nvSpPr>
        <p:spPr>
          <a:xfrm>
            <a:off x="7438320" y="8035920"/>
            <a:ext cx="41245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8"/>
          <p:cNvSpPr/>
          <p:nvPr/>
        </p:nvSpPr>
        <p:spPr>
          <a:xfrm>
            <a:off x="7505280" y="7504200"/>
            <a:ext cx="38674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0.306 ns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9"/>
          <p:cNvSpPr/>
          <p:nvPr/>
        </p:nvSpPr>
        <p:spPr>
          <a:xfrm>
            <a:off x="1047600" y="8042760"/>
            <a:ext cx="6390360" cy="9000"/>
          </a:xfrm>
          <a:prstGeom prst="rect">
            <a:avLst/>
          </a:prstGeom>
          <a:solidFill>
            <a:srgbClr val="7C81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0"/>
          <p:cNvSpPr/>
          <p:nvPr/>
        </p:nvSpPr>
        <p:spPr>
          <a:xfrm>
            <a:off x="1238400" y="8259480"/>
            <a:ext cx="620100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Total (sin MUX)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1"/>
          <p:cNvSpPr/>
          <p:nvPr/>
        </p:nvSpPr>
        <p:spPr>
          <a:xfrm>
            <a:off x="7438320" y="8042760"/>
            <a:ext cx="4124520" cy="9000"/>
          </a:xfrm>
          <a:prstGeom prst="rect">
            <a:avLst/>
          </a:prstGeom>
          <a:solidFill>
            <a:srgbClr val="7C81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2"/>
          <p:cNvSpPr/>
          <p:nvPr/>
        </p:nvSpPr>
        <p:spPr>
          <a:xfrm>
            <a:off x="7505280" y="8259480"/>
            <a:ext cx="38674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≈ 1.88 ns → ~ 530 MHz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3"/>
          <p:cNvSpPr/>
          <p:nvPr/>
        </p:nvSpPr>
        <p:spPr>
          <a:xfrm>
            <a:off x="12096720" y="2874600"/>
            <a:ext cx="5143320" cy="3302640"/>
          </a:xfrm>
          <a:prstGeom prst="roundRect">
            <a:avLst>
              <a:gd name="adj" fmla="val 1153"/>
            </a:avLst>
          </a:prstGeom>
          <a:solidFill>
            <a:srgbClr val="1E2329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4"/>
          <p:cNvSpPr/>
          <p:nvPr/>
        </p:nvSpPr>
        <p:spPr>
          <a:xfrm>
            <a:off x="12484800" y="3224520"/>
            <a:ext cx="449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pc="252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F</a:t>
            </a:r>
            <a:r>
              <a:rPr lang="en-US" sz="1750" b="0" u="none" spc="252" strike="noStrike" baseline="-40000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MÁX </a:t>
            </a:r>
            <a:r>
              <a:rPr lang="en-US" sz="2100" b="0" u="none" spc="252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BASELINE (CON MUX)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5"/>
          <p:cNvSpPr/>
          <p:nvPr/>
        </p:nvSpPr>
        <p:spPr>
          <a:xfrm>
            <a:off x="12484800" y="3796920"/>
            <a:ext cx="449784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pc="-133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≈ 500 </a:t>
            </a:r>
            <a:r>
              <a:rPr lang="en-US" sz="2700" b="1" u="none" spc="-133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MHz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6"/>
          <p:cNvSpPr/>
          <p:nvPr/>
        </p:nvSpPr>
        <p:spPr>
          <a:xfrm>
            <a:off x="12484800" y="4787640"/>
            <a:ext cx="4497840" cy="10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MUX 4:1 de salida ≈ 0.1 ns sobre los 1.88 ns del camino. </a:t>
            </a:r>
            <a:r>
              <a:rPr lang="en-US" sz="2100" b="1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5× sobre el mínimo de 100 MHz.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7"/>
          <p:cNvSpPr/>
          <p:nvPr/>
        </p:nvSpPr>
        <p:spPr>
          <a:xfrm>
            <a:off x="12096720" y="6387480"/>
            <a:ext cx="5143320" cy="3697560"/>
          </a:xfrm>
          <a:prstGeom prst="roundRect">
            <a:avLst>
              <a:gd name="adj" fmla="val 1030"/>
            </a:avLst>
          </a:prstGeom>
          <a:solidFill>
            <a:srgbClr val="1E2329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8"/>
          <p:cNvSpPr/>
          <p:nvPr/>
        </p:nvSpPr>
        <p:spPr>
          <a:xfrm>
            <a:off x="12484800" y="6737400"/>
            <a:ext cx="44978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pc="252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MATIZ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9"/>
          <p:cNvSpPr/>
          <p:nvPr/>
        </p:nvSpPr>
        <p:spPr>
          <a:xfrm>
            <a:off x="12484800" y="7268760"/>
            <a:ext cx="4497840" cy="25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La cadena de adders (≈ 1.58 ns) limita; el resto es 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overhead de FF. </a:t>
            </a:r>
            <a:r>
              <a:rPr lang="en-US" sz="2100" b="1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No 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se puede declarar multiciclo 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"gratis": el registro de salida captura una fase distinta 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cada ciclo. Para exponer el margen de 4 ciclos hace 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falta registrar 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S 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(→ § 09).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1047600" y="419040"/>
            <a:ext cx="8442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06 · CONT.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CAMINO DE OPTIMIZACIÓN Y FRENTE DE PARETO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"/>
          <p:cNvSpPr/>
          <p:nvPr/>
        </p:nvSpPr>
        <p:spPr>
          <a:xfrm>
            <a:off x="13727520" y="419040"/>
            <a:ext cx="3618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TRADE-OFF VELOCIDAD ↔ FF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1047600" y="952560"/>
            <a:ext cx="166780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De 500 MHz a ~ 900 MHz registrando </a:t>
            </a:r>
            <a:r>
              <a:rPr lang="en-US" sz="4800" b="1" u="none" spc="-71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1047600" y="2305440"/>
            <a:ext cx="8512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"/>
          <p:cNvSpPr/>
          <p:nvPr/>
        </p:nvSpPr>
        <p:spPr>
          <a:xfrm>
            <a:off x="1219320" y="1870560"/>
            <a:ext cx="842544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DISEÑO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5"/>
          <p:cNvSpPr/>
          <p:nvPr/>
        </p:nvSpPr>
        <p:spPr>
          <a:xfrm>
            <a:off x="9560880" y="2305440"/>
            <a:ext cx="33847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6"/>
          <p:cNvSpPr/>
          <p:nvPr/>
        </p:nvSpPr>
        <p:spPr>
          <a:xfrm>
            <a:off x="9630720" y="1870560"/>
            <a:ext cx="31431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1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F</a:t>
            </a:r>
            <a:r>
              <a:rPr lang="en-US" sz="1500" b="0" u="none" spc="181" strike="noStrike" baseline="-40000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MÁX </a:t>
            </a: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APROX.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7"/>
          <p:cNvSpPr/>
          <p:nvPr/>
        </p:nvSpPr>
        <p:spPr>
          <a:xfrm>
            <a:off x="12945960" y="2305440"/>
            <a:ext cx="214704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8"/>
          <p:cNvSpPr/>
          <p:nvPr/>
        </p:nvSpPr>
        <p:spPr>
          <a:xfrm>
            <a:off x="13041000" y="1870560"/>
            <a:ext cx="188028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FLIP-FLOPS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9"/>
          <p:cNvSpPr/>
          <p:nvPr/>
        </p:nvSpPr>
        <p:spPr>
          <a:xfrm>
            <a:off x="15093000" y="2305440"/>
            <a:ext cx="214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0"/>
          <p:cNvSpPr/>
          <p:nvPr/>
        </p:nvSpPr>
        <p:spPr>
          <a:xfrm>
            <a:off x="15188400" y="1870560"/>
            <a:ext cx="187992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8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COMPUERTAS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1"/>
          <p:cNvSpPr/>
          <p:nvPr/>
        </p:nvSpPr>
        <p:spPr>
          <a:xfrm>
            <a:off x="1047600" y="3209760"/>
            <a:ext cx="8512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2"/>
          <p:cNvSpPr/>
          <p:nvPr/>
        </p:nvSpPr>
        <p:spPr>
          <a:xfrm>
            <a:off x="1219320" y="2419920"/>
            <a:ext cx="46144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Baseline (3 ramas paralelas)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3"/>
          <p:cNvSpPr/>
          <p:nvPr/>
        </p:nvSpPr>
        <p:spPr>
          <a:xfrm>
            <a:off x="1219320" y="2809440"/>
            <a:ext cx="8415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cadena 1.58 ns en 1 ciclo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4"/>
          <p:cNvSpPr/>
          <p:nvPr/>
        </p:nvSpPr>
        <p:spPr>
          <a:xfrm>
            <a:off x="9560880" y="3209760"/>
            <a:ext cx="33847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5"/>
          <p:cNvSpPr/>
          <p:nvPr/>
        </p:nvSpPr>
        <p:spPr>
          <a:xfrm>
            <a:off x="9630720" y="2407680"/>
            <a:ext cx="314316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 500 MHz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6"/>
          <p:cNvSpPr/>
          <p:nvPr/>
        </p:nvSpPr>
        <p:spPr>
          <a:xfrm>
            <a:off x="12945960" y="3209760"/>
            <a:ext cx="214704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7"/>
          <p:cNvSpPr/>
          <p:nvPr/>
        </p:nvSpPr>
        <p:spPr>
          <a:xfrm>
            <a:off x="13041000" y="2407680"/>
            <a:ext cx="188028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20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8"/>
          <p:cNvSpPr/>
          <p:nvPr/>
        </p:nvSpPr>
        <p:spPr>
          <a:xfrm>
            <a:off x="15093000" y="3209760"/>
            <a:ext cx="214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9"/>
          <p:cNvSpPr/>
          <p:nvPr/>
        </p:nvSpPr>
        <p:spPr>
          <a:xfrm>
            <a:off x="15188400" y="2407680"/>
            <a:ext cx="187992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 50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0"/>
          <p:cNvSpPr/>
          <p:nvPr/>
        </p:nvSpPr>
        <p:spPr>
          <a:xfrm>
            <a:off x="1047600" y="4114080"/>
            <a:ext cx="8512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1"/>
          <p:cNvSpPr/>
          <p:nvPr/>
        </p:nvSpPr>
        <p:spPr>
          <a:xfrm>
            <a:off x="1219320" y="3324240"/>
            <a:ext cx="54388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Compartir adder (sin registrar S)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2"/>
          <p:cNvSpPr/>
          <p:nvPr/>
        </p:nvSpPr>
        <p:spPr>
          <a:xfrm>
            <a:off x="1219320" y="3713760"/>
            <a:ext cx="8415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ahorra área, no da velocidad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3"/>
          <p:cNvSpPr/>
          <p:nvPr/>
        </p:nvSpPr>
        <p:spPr>
          <a:xfrm>
            <a:off x="9560880" y="4114080"/>
            <a:ext cx="33847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4"/>
          <p:cNvSpPr/>
          <p:nvPr/>
        </p:nvSpPr>
        <p:spPr>
          <a:xfrm>
            <a:off x="9630720" y="3312000"/>
            <a:ext cx="314316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 480 MHz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5"/>
          <p:cNvSpPr/>
          <p:nvPr/>
        </p:nvSpPr>
        <p:spPr>
          <a:xfrm>
            <a:off x="12945960" y="4114080"/>
            <a:ext cx="214704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6"/>
          <p:cNvSpPr/>
          <p:nvPr/>
        </p:nvSpPr>
        <p:spPr>
          <a:xfrm>
            <a:off x="13041000" y="3312000"/>
            <a:ext cx="188028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20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7"/>
          <p:cNvSpPr/>
          <p:nvPr/>
        </p:nvSpPr>
        <p:spPr>
          <a:xfrm>
            <a:off x="15093000" y="4114080"/>
            <a:ext cx="214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8"/>
          <p:cNvSpPr/>
          <p:nvPr/>
        </p:nvSpPr>
        <p:spPr>
          <a:xfrm>
            <a:off x="15188400" y="3312000"/>
            <a:ext cx="187992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 43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9"/>
          <p:cNvSpPr/>
          <p:nvPr/>
        </p:nvSpPr>
        <p:spPr>
          <a:xfrm>
            <a:off x="1047600" y="4121280"/>
            <a:ext cx="16192080" cy="903960"/>
          </a:xfrm>
          <a:prstGeom prst="rect">
            <a:avLst/>
          </a:prstGeom>
          <a:solidFill>
            <a:srgbClr val="F7AD3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30"/>
          <p:cNvSpPr/>
          <p:nvPr/>
        </p:nvSpPr>
        <p:spPr>
          <a:xfrm>
            <a:off x="1047600" y="5018400"/>
            <a:ext cx="8512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1"/>
          <p:cNvSpPr/>
          <p:nvPr/>
        </p:nvSpPr>
        <p:spPr>
          <a:xfrm>
            <a:off x="1219320" y="4228560"/>
            <a:ext cx="4944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Registrar S + adder compartido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2"/>
          <p:cNvSpPr/>
          <p:nvPr/>
        </p:nvSpPr>
        <p:spPr>
          <a:xfrm>
            <a:off x="6339960" y="4214160"/>
            <a:ext cx="2316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← recomendado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3"/>
          <p:cNvSpPr/>
          <p:nvPr/>
        </p:nvSpPr>
        <p:spPr>
          <a:xfrm>
            <a:off x="1219320" y="4618080"/>
            <a:ext cx="8415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mejor balance velocidad / área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4"/>
          <p:cNvSpPr/>
          <p:nvPr/>
        </p:nvSpPr>
        <p:spPr>
          <a:xfrm>
            <a:off x="9560880" y="5018400"/>
            <a:ext cx="33847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5"/>
          <p:cNvSpPr/>
          <p:nvPr/>
        </p:nvSpPr>
        <p:spPr>
          <a:xfrm>
            <a:off x="9630720" y="4216680"/>
            <a:ext cx="314316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 900 MHz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36"/>
          <p:cNvSpPr/>
          <p:nvPr/>
        </p:nvSpPr>
        <p:spPr>
          <a:xfrm>
            <a:off x="12945960" y="5018400"/>
            <a:ext cx="214704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7"/>
          <p:cNvSpPr/>
          <p:nvPr/>
        </p:nvSpPr>
        <p:spPr>
          <a:xfrm>
            <a:off x="13041000" y="4216680"/>
            <a:ext cx="188028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27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8"/>
          <p:cNvSpPr/>
          <p:nvPr/>
        </p:nvSpPr>
        <p:spPr>
          <a:xfrm>
            <a:off x="15093000" y="5018400"/>
            <a:ext cx="214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9"/>
          <p:cNvSpPr/>
          <p:nvPr/>
        </p:nvSpPr>
        <p:spPr>
          <a:xfrm>
            <a:off x="15188400" y="4216680"/>
            <a:ext cx="187992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 45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40"/>
          <p:cNvSpPr/>
          <p:nvPr/>
        </p:nvSpPr>
        <p:spPr>
          <a:xfrm>
            <a:off x="1047600" y="5957280"/>
            <a:ext cx="8512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1"/>
          <p:cNvSpPr/>
          <p:nvPr/>
        </p:nvSpPr>
        <p:spPr>
          <a:xfrm>
            <a:off x="1219320" y="5118840"/>
            <a:ext cx="5603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Registrar las 3 fases (φ₁, φ₂, φ₃)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2"/>
          <p:cNvSpPr/>
          <p:nvPr/>
        </p:nvSpPr>
        <p:spPr>
          <a:xfrm>
            <a:off x="1219320" y="5522760"/>
            <a:ext cx="8415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máx. f</a:t>
            </a:r>
            <a:r>
              <a:rPr lang="en-US" sz="1500" b="0" u="none" strike="noStrike" baseline="-40000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máx</a:t>
            </a:r>
            <a:r>
              <a:rPr lang="en-US" sz="1800" b="0" u="none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, FF-pesado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43"/>
          <p:cNvSpPr/>
          <p:nvPr/>
        </p:nvSpPr>
        <p:spPr>
          <a:xfrm>
            <a:off x="9560880" y="5957280"/>
            <a:ext cx="33847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4"/>
          <p:cNvSpPr/>
          <p:nvPr/>
        </p:nvSpPr>
        <p:spPr>
          <a:xfrm>
            <a:off x="9630720" y="5121000"/>
            <a:ext cx="3143160" cy="77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&gt; 1.5 GHz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45"/>
          <p:cNvSpPr/>
          <p:nvPr/>
        </p:nvSpPr>
        <p:spPr>
          <a:xfrm>
            <a:off x="12945960" y="5957280"/>
            <a:ext cx="214704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6"/>
          <p:cNvSpPr/>
          <p:nvPr/>
        </p:nvSpPr>
        <p:spPr>
          <a:xfrm>
            <a:off x="13041000" y="5121000"/>
            <a:ext cx="1880280" cy="77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 38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47"/>
          <p:cNvSpPr/>
          <p:nvPr/>
        </p:nvSpPr>
        <p:spPr>
          <a:xfrm>
            <a:off x="15093000" y="5957280"/>
            <a:ext cx="214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8"/>
          <p:cNvSpPr/>
          <p:nvPr/>
        </p:nvSpPr>
        <p:spPr>
          <a:xfrm>
            <a:off x="15188400" y="5121000"/>
            <a:ext cx="1879920" cy="77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~ 50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9"/>
          <p:cNvSpPr/>
          <p:nvPr/>
        </p:nvSpPr>
        <p:spPr>
          <a:xfrm>
            <a:off x="1047600" y="6861600"/>
            <a:ext cx="85129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0"/>
          <p:cNvSpPr/>
          <p:nvPr/>
        </p:nvSpPr>
        <p:spPr>
          <a:xfrm>
            <a:off x="1219320" y="6071760"/>
            <a:ext cx="4944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+ DFF pulsado / + pipeline CLA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1"/>
          <p:cNvSpPr/>
          <p:nvPr/>
        </p:nvSpPr>
        <p:spPr>
          <a:xfrm>
            <a:off x="1219320" y="6461280"/>
            <a:ext cx="8415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última milla (grupo de 3)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52"/>
          <p:cNvSpPr/>
          <p:nvPr/>
        </p:nvSpPr>
        <p:spPr>
          <a:xfrm>
            <a:off x="9560880" y="6861600"/>
            <a:ext cx="338472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53"/>
          <p:cNvSpPr/>
          <p:nvPr/>
        </p:nvSpPr>
        <p:spPr>
          <a:xfrm>
            <a:off x="9630720" y="6059520"/>
            <a:ext cx="314316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techo de librería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54"/>
          <p:cNvSpPr/>
          <p:nvPr/>
        </p:nvSpPr>
        <p:spPr>
          <a:xfrm>
            <a:off x="12945960" y="6861600"/>
            <a:ext cx="214704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55"/>
          <p:cNvSpPr/>
          <p:nvPr/>
        </p:nvSpPr>
        <p:spPr>
          <a:xfrm>
            <a:off x="13041000" y="6059520"/>
            <a:ext cx="188028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+FF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56"/>
          <p:cNvSpPr/>
          <p:nvPr/>
        </p:nvSpPr>
        <p:spPr>
          <a:xfrm>
            <a:off x="15093000" y="6861600"/>
            <a:ext cx="21466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57"/>
          <p:cNvSpPr/>
          <p:nvPr/>
        </p:nvSpPr>
        <p:spPr>
          <a:xfrm>
            <a:off x="15188400" y="6059520"/>
            <a:ext cx="187992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—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8"/>
          <p:cNvSpPr/>
          <p:nvPr/>
        </p:nvSpPr>
        <p:spPr>
          <a:xfrm>
            <a:off x="1047600" y="7325640"/>
            <a:ext cx="7943400" cy="2122920"/>
          </a:xfrm>
          <a:prstGeom prst="roundRect">
            <a:avLst>
              <a:gd name="adj" fmla="val 1795"/>
            </a:avLst>
          </a:prstGeom>
          <a:solidFill>
            <a:srgbClr val="1E2329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9"/>
          <p:cNvSpPr/>
          <p:nvPr/>
        </p:nvSpPr>
        <p:spPr>
          <a:xfrm>
            <a:off x="1321560" y="7542360"/>
            <a:ext cx="761760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pc="252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ADVERTENCIA HONESTA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60"/>
          <p:cNvSpPr/>
          <p:nvPr/>
        </p:nvSpPr>
        <p:spPr>
          <a:xfrm>
            <a:off x="1321560" y="7997760"/>
            <a:ext cx="7617600" cy="12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Delays de celda en caracterización TT, </a:t>
            </a:r>
            <a:r>
              <a:rPr lang="en-US" sz="180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sin árbol de reloj, skew, carga de interconexión ni márgenes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. En 180 nm los números &gt; 1 GHz son techo teórico. Defendible: </a:t>
            </a:r>
            <a:r>
              <a:rPr lang="en-US" sz="1800" b="1" u="none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~ 500 MHz baseline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+ el camino de optimización.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61"/>
          <p:cNvSpPr/>
          <p:nvPr/>
        </p:nvSpPr>
        <p:spPr>
          <a:xfrm>
            <a:off x="9296280" y="7325640"/>
            <a:ext cx="7943400" cy="2122920"/>
          </a:xfrm>
          <a:prstGeom prst="roundRect">
            <a:avLst>
              <a:gd name="adj" fmla="val 1795"/>
            </a:avLst>
          </a:prstGeom>
          <a:solidFill>
            <a:srgbClr val="1E2329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62"/>
          <p:cNvSpPr/>
          <p:nvPr/>
        </p:nvSpPr>
        <p:spPr>
          <a:xfrm>
            <a:off x="9570240" y="7542360"/>
            <a:ext cx="761760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pc="252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MÍNIMO DE 100 MHZ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63"/>
          <p:cNvSpPr/>
          <p:nvPr/>
        </p:nvSpPr>
        <p:spPr>
          <a:xfrm>
            <a:off x="9570240" y="7997760"/>
            <a:ext cx="7617600" cy="7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Si aplica a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i_CK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, se cumple trivialmente; si aplica a la tasa de entrada f</a:t>
            </a:r>
            <a:r>
              <a:rPr lang="en-US" sz="1500" b="0" u="none" strike="noStrike" baseline="-40000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(⇒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i_CK ≥ 400 MHz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), también lo cumplen </a:t>
            </a:r>
            <a:r>
              <a:rPr lang="en-US" sz="180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todas </a:t>
            </a:r>
            <a:r>
              <a:rPr lang="en-US" sz="18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las variantes.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1047600" y="419040"/>
            <a:ext cx="5728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07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DIAGRAMA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DETALLADO DEL DATAPATH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"/>
          <p:cNvSpPr/>
          <p:nvPr/>
        </p:nvSpPr>
        <p:spPr>
          <a:xfrm>
            <a:off x="13141800" y="419040"/>
            <a:ext cx="4221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BASELINE · 3 RAMAS PARALELAS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"/>
          <p:cNvSpPr/>
          <p:nvPr/>
        </p:nvSpPr>
        <p:spPr>
          <a:xfrm>
            <a:off x="1047600" y="952560"/>
            <a:ext cx="166780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Datapath — registro → núcleo → MUX → </a:t>
            </a: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salida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3"/>
          <p:cNvSpPr/>
          <p:nvPr/>
        </p:nvSpPr>
        <p:spPr>
          <a:xfrm>
            <a:off x="1047600" y="2118240"/>
            <a:ext cx="8572320" cy="7329960"/>
          </a:xfrm>
          <a:prstGeom prst="roundRect">
            <a:avLst>
              <a:gd name="adj" fmla="val 520"/>
            </a:avLst>
          </a:prstGeom>
          <a:solidFill>
            <a:srgbClr val="121212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8" name="Image 0" descr="preencoded.png"/>
          <p:cNvPicPr/>
          <p:nvPr/>
        </p:nvPicPr>
        <p:blipFill>
          <a:blip r:embed="rId1"/>
          <a:stretch/>
        </p:blipFill>
        <p:spPr>
          <a:xfrm>
            <a:off x="2390760" y="2354040"/>
            <a:ext cx="5886000" cy="685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4"/>
          <p:cNvSpPr/>
          <p:nvPr/>
        </p:nvSpPr>
        <p:spPr>
          <a:xfrm>
            <a:off x="10515600" y="2118240"/>
            <a:ext cx="6936840" cy="14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x_old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/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x_new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alimentan </a:t>
            </a:r>
            <a:r>
              <a:rPr lang="en-US" sz="2550" b="0" u="none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ADD ①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(S = x_old +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x_new) y, desplazados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×2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, a </a:t>
            </a:r>
            <a:r>
              <a:rPr lang="en-US" sz="2550" b="0" u="none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ADD ②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y </a:t>
            </a:r>
            <a:r>
              <a:rPr lang="en-US" sz="2550" b="0" u="none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ADD ③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5"/>
          <p:cNvSpPr/>
          <p:nvPr/>
        </p:nvSpPr>
        <p:spPr>
          <a:xfrm>
            <a:off x="10515600" y="3789720"/>
            <a:ext cx="693684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S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se reutiliza </a:t>
            </a: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3 veces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— en las tres ramas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aritméticas.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10515600" y="4977360"/>
            <a:ext cx="6936840" cy="13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φ₀ = x_old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es cable directo; </a:t>
            </a:r>
            <a:r>
              <a:rPr lang="en-US" sz="25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φ₁, φ₂, φ₃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salen de las tres ramas con su redondeo correspondiente.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7"/>
          <p:cNvSpPr/>
          <p:nvPr/>
        </p:nvSpPr>
        <p:spPr>
          <a:xfrm>
            <a:off x="10515600" y="6602040"/>
            <a:ext cx="6936840" cy="14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El MUX 4:1 selecciona la fase activa con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sel =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cuenta[1:0]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; el registro de salida sincroniza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o_D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8"/>
          <p:cNvSpPr/>
          <p:nvPr/>
        </p:nvSpPr>
        <p:spPr>
          <a:xfrm>
            <a:off x="10153800" y="8661960"/>
            <a:ext cx="209160" cy="209160"/>
          </a:xfrm>
          <a:prstGeom prst="roundRect">
            <a:avLst>
              <a:gd name="adj" fmla="val 13636"/>
            </a:avLst>
          </a:prstGeom>
          <a:solidFill>
            <a:srgbClr val="3899E2"/>
          </a:solidFill>
          <a:ln w="7144">
            <a:solidFill>
              <a:srgbClr val="FFFFFF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9"/>
          <p:cNvSpPr/>
          <p:nvPr/>
        </p:nvSpPr>
        <p:spPr>
          <a:xfrm>
            <a:off x="10496520" y="8595360"/>
            <a:ext cx="15159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Registros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0"/>
          <p:cNvSpPr/>
          <p:nvPr/>
        </p:nvSpPr>
        <p:spPr>
          <a:xfrm>
            <a:off x="12355920" y="8661960"/>
            <a:ext cx="209160" cy="209160"/>
          </a:xfrm>
          <a:prstGeom prst="roundRect">
            <a:avLst>
              <a:gd name="adj" fmla="val 13636"/>
            </a:avLst>
          </a:prstGeom>
          <a:solidFill>
            <a:srgbClr val="EE921A"/>
          </a:solidFill>
          <a:ln w="7144">
            <a:solidFill>
              <a:srgbClr val="FFFFFF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1"/>
          <p:cNvSpPr/>
          <p:nvPr/>
        </p:nvSpPr>
        <p:spPr>
          <a:xfrm>
            <a:off x="12698640" y="8595360"/>
            <a:ext cx="1676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Aritmética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2"/>
          <p:cNvSpPr/>
          <p:nvPr/>
        </p:nvSpPr>
        <p:spPr>
          <a:xfrm>
            <a:off x="14717880" y="8661960"/>
            <a:ext cx="209160" cy="209160"/>
          </a:xfrm>
          <a:prstGeom prst="roundRect">
            <a:avLst>
              <a:gd name="adj" fmla="val 13636"/>
            </a:avLst>
          </a:prstGeom>
          <a:solidFill>
            <a:srgbClr val="A975E0"/>
          </a:solidFill>
          <a:ln w="7144">
            <a:solidFill>
              <a:srgbClr val="FFFFFF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3"/>
          <p:cNvSpPr/>
          <p:nvPr/>
        </p:nvSpPr>
        <p:spPr>
          <a:xfrm>
            <a:off x="15060960" y="8580960"/>
            <a:ext cx="1195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Fases φ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4"/>
          <p:cNvSpPr/>
          <p:nvPr/>
        </p:nvSpPr>
        <p:spPr>
          <a:xfrm>
            <a:off x="10153800" y="9288720"/>
            <a:ext cx="209160" cy="209160"/>
          </a:xfrm>
          <a:prstGeom prst="roundRect">
            <a:avLst>
              <a:gd name="adj" fmla="val 13636"/>
            </a:avLst>
          </a:prstGeom>
          <a:solidFill>
            <a:srgbClr val="62BB78"/>
          </a:solidFill>
          <a:ln w="7144">
            <a:solidFill>
              <a:srgbClr val="FFFFFF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5"/>
          <p:cNvSpPr/>
          <p:nvPr/>
        </p:nvSpPr>
        <p:spPr>
          <a:xfrm>
            <a:off x="10496520" y="9222120"/>
            <a:ext cx="5558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MUX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6"/>
          <p:cNvSpPr/>
          <p:nvPr/>
        </p:nvSpPr>
        <p:spPr>
          <a:xfrm>
            <a:off x="11395800" y="9288720"/>
            <a:ext cx="209160" cy="209160"/>
          </a:xfrm>
          <a:prstGeom prst="roundRect">
            <a:avLst>
              <a:gd name="adj" fmla="val 13636"/>
            </a:avLst>
          </a:prstGeom>
          <a:solidFill>
            <a:srgbClr val="83878B"/>
          </a:solidFill>
          <a:ln w="7144">
            <a:solidFill>
              <a:srgbClr val="FFFFFF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7"/>
          <p:cNvSpPr/>
          <p:nvPr/>
        </p:nvSpPr>
        <p:spPr>
          <a:xfrm>
            <a:off x="11738520" y="9222120"/>
            <a:ext cx="5558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E/S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 0"/>
          <p:cNvSpPr/>
          <p:nvPr/>
        </p:nvSpPr>
        <p:spPr>
          <a:xfrm>
            <a:off x="1047600" y="419040"/>
            <a:ext cx="6633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07 · CONT.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DETALLE DEL NÚCLEO ARITMÉTICO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"/>
          <p:cNvSpPr/>
          <p:nvPr/>
        </p:nvSpPr>
        <p:spPr>
          <a:xfrm>
            <a:off x="14605560" y="419040"/>
            <a:ext cx="2713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CÁLCULO DE Φ₀ … Φ₃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2"/>
          <p:cNvSpPr/>
          <p:nvPr/>
        </p:nvSpPr>
        <p:spPr>
          <a:xfrm>
            <a:off x="1047600" y="952560"/>
            <a:ext cx="166780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Las cuatro fases, paso a </a:t>
            </a: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paso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"/>
          <p:cNvSpPr/>
          <p:nvPr/>
        </p:nvSpPr>
        <p:spPr>
          <a:xfrm>
            <a:off x="1047600" y="2118240"/>
            <a:ext cx="16192080" cy="919440"/>
          </a:xfrm>
          <a:prstGeom prst="roundRect">
            <a:avLst>
              <a:gd name="adj" fmla="val 4143"/>
            </a:avLst>
          </a:prstGeom>
          <a:solidFill>
            <a:srgbClr val="1E23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4"/>
          <p:cNvSpPr/>
          <p:nvPr/>
        </p:nvSpPr>
        <p:spPr>
          <a:xfrm>
            <a:off x="1047600" y="3030840"/>
            <a:ext cx="161920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5"/>
          <p:cNvSpPr/>
          <p:nvPr/>
        </p:nvSpPr>
        <p:spPr>
          <a:xfrm>
            <a:off x="1047600" y="2118240"/>
            <a:ext cx="161920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6"/>
          <p:cNvSpPr/>
          <p:nvPr/>
        </p:nvSpPr>
        <p:spPr>
          <a:xfrm>
            <a:off x="1047600" y="2118240"/>
            <a:ext cx="28080" cy="919440"/>
          </a:xfrm>
          <a:prstGeom prst="rect">
            <a:avLst/>
          </a:prstGeom>
          <a:solidFill>
            <a:srgbClr val="A975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7"/>
          <p:cNvSpPr/>
          <p:nvPr/>
        </p:nvSpPr>
        <p:spPr>
          <a:xfrm>
            <a:off x="17233200" y="2118240"/>
            <a:ext cx="9000" cy="91944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8"/>
          <p:cNvSpPr/>
          <p:nvPr/>
        </p:nvSpPr>
        <p:spPr>
          <a:xfrm>
            <a:off x="1380960" y="2373120"/>
            <a:ext cx="7426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φ₀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2352600" y="2373120"/>
            <a:ext cx="93312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x_old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0"/>
          <p:cNvSpPr/>
          <p:nvPr/>
        </p:nvSpPr>
        <p:spPr>
          <a:xfrm>
            <a:off x="12559680" y="2448720"/>
            <a:ext cx="44992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cable directo — peso unitario, sin lógica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1"/>
          <p:cNvSpPr/>
          <p:nvPr/>
        </p:nvSpPr>
        <p:spPr>
          <a:xfrm>
            <a:off x="1047600" y="3209400"/>
            <a:ext cx="16192080" cy="919440"/>
          </a:xfrm>
          <a:prstGeom prst="roundRect">
            <a:avLst>
              <a:gd name="adj" fmla="val 4143"/>
            </a:avLst>
          </a:prstGeom>
          <a:solidFill>
            <a:srgbClr val="1E23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2"/>
          <p:cNvSpPr/>
          <p:nvPr/>
        </p:nvSpPr>
        <p:spPr>
          <a:xfrm>
            <a:off x="1047600" y="4122000"/>
            <a:ext cx="161920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3"/>
          <p:cNvSpPr/>
          <p:nvPr/>
        </p:nvSpPr>
        <p:spPr>
          <a:xfrm>
            <a:off x="1047600" y="3209400"/>
            <a:ext cx="161920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4"/>
          <p:cNvSpPr/>
          <p:nvPr/>
        </p:nvSpPr>
        <p:spPr>
          <a:xfrm>
            <a:off x="1047600" y="3209400"/>
            <a:ext cx="28080" cy="919440"/>
          </a:xfrm>
          <a:prstGeom prst="rect">
            <a:avLst/>
          </a:prstGeom>
          <a:solidFill>
            <a:srgbClr val="A975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5"/>
          <p:cNvSpPr/>
          <p:nvPr/>
        </p:nvSpPr>
        <p:spPr>
          <a:xfrm>
            <a:off x="17233200" y="3209400"/>
            <a:ext cx="9000" cy="91944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6"/>
          <p:cNvSpPr/>
          <p:nvPr/>
        </p:nvSpPr>
        <p:spPr>
          <a:xfrm>
            <a:off x="1380960" y="3464280"/>
            <a:ext cx="7426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φ₁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7"/>
          <p:cNvSpPr/>
          <p:nvPr/>
        </p:nvSpPr>
        <p:spPr>
          <a:xfrm>
            <a:off x="2352600" y="3464280"/>
            <a:ext cx="85312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(3·x_old + x_new + 2) &gt;&gt; 2 = ADD②(S + 2·x_old)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8"/>
          <p:cNvSpPr/>
          <p:nvPr/>
        </p:nvSpPr>
        <p:spPr>
          <a:xfrm>
            <a:off x="14277600" y="3504240"/>
            <a:ext cx="272988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redondeo </a:t>
            </a:r>
            <a:r>
              <a:rPr lang="en-US" sz="195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+2 </a:t>
            </a:r>
            <a:r>
              <a:rPr lang="en-US" sz="195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en carry-in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9"/>
          <p:cNvSpPr/>
          <p:nvPr/>
        </p:nvSpPr>
        <p:spPr>
          <a:xfrm>
            <a:off x="1047600" y="4300560"/>
            <a:ext cx="16192080" cy="919440"/>
          </a:xfrm>
          <a:prstGeom prst="roundRect">
            <a:avLst>
              <a:gd name="adj" fmla="val 4143"/>
            </a:avLst>
          </a:prstGeom>
          <a:solidFill>
            <a:srgbClr val="1E23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0"/>
          <p:cNvSpPr/>
          <p:nvPr/>
        </p:nvSpPr>
        <p:spPr>
          <a:xfrm>
            <a:off x="1047600" y="5213160"/>
            <a:ext cx="161920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1"/>
          <p:cNvSpPr/>
          <p:nvPr/>
        </p:nvSpPr>
        <p:spPr>
          <a:xfrm>
            <a:off x="1047600" y="4300560"/>
            <a:ext cx="161920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22"/>
          <p:cNvSpPr/>
          <p:nvPr/>
        </p:nvSpPr>
        <p:spPr>
          <a:xfrm>
            <a:off x="1047600" y="4300560"/>
            <a:ext cx="28080" cy="919440"/>
          </a:xfrm>
          <a:prstGeom prst="rect">
            <a:avLst/>
          </a:prstGeom>
          <a:solidFill>
            <a:srgbClr val="A975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23"/>
          <p:cNvSpPr/>
          <p:nvPr/>
        </p:nvSpPr>
        <p:spPr>
          <a:xfrm>
            <a:off x="17233200" y="4300560"/>
            <a:ext cx="9000" cy="91944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4"/>
          <p:cNvSpPr/>
          <p:nvPr/>
        </p:nvSpPr>
        <p:spPr>
          <a:xfrm>
            <a:off x="1380960" y="4555440"/>
            <a:ext cx="7426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φ₂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5"/>
          <p:cNvSpPr/>
          <p:nvPr/>
        </p:nvSpPr>
        <p:spPr>
          <a:xfrm>
            <a:off x="2352600" y="4555440"/>
            <a:ext cx="723996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(x_old + x_new + 1) &gt;&gt; 1 = (S + 1) &gt;&gt; 1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6"/>
          <p:cNvSpPr/>
          <p:nvPr/>
        </p:nvSpPr>
        <p:spPr>
          <a:xfrm>
            <a:off x="13254840" y="4631040"/>
            <a:ext cx="378324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redondeo a la mitad más cercana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7"/>
          <p:cNvSpPr/>
          <p:nvPr/>
        </p:nvSpPr>
        <p:spPr>
          <a:xfrm>
            <a:off x="1047600" y="5391720"/>
            <a:ext cx="16192080" cy="919440"/>
          </a:xfrm>
          <a:prstGeom prst="roundRect">
            <a:avLst>
              <a:gd name="adj" fmla="val 4143"/>
            </a:avLst>
          </a:prstGeom>
          <a:solidFill>
            <a:srgbClr val="1E23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8"/>
          <p:cNvSpPr/>
          <p:nvPr/>
        </p:nvSpPr>
        <p:spPr>
          <a:xfrm>
            <a:off x="1047600" y="6303960"/>
            <a:ext cx="161920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9"/>
          <p:cNvSpPr/>
          <p:nvPr/>
        </p:nvSpPr>
        <p:spPr>
          <a:xfrm>
            <a:off x="1047600" y="5391720"/>
            <a:ext cx="16192080" cy="900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30"/>
          <p:cNvSpPr/>
          <p:nvPr/>
        </p:nvSpPr>
        <p:spPr>
          <a:xfrm>
            <a:off x="1047600" y="5391720"/>
            <a:ext cx="28080" cy="919440"/>
          </a:xfrm>
          <a:prstGeom prst="rect">
            <a:avLst/>
          </a:prstGeom>
          <a:solidFill>
            <a:srgbClr val="A975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31"/>
          <p:cNvSpPr/>
          <p:nvPr/>
        </p:nvSpPr>
        <p:spPr>
          <a:xfrm>
            <a:off x="17233200" y="5391720"/>
            <a:ext cx="9000" cy="919440"/>
          </a:xfrm>
          <a:prstGeom prst="rect">
            <a:avLst/>
          </a:prstGeom>
          <a:solidFill>
            <a:srgbClr val="484E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32"/>
          <p:cNvSpPr/>
          <p:nvPr/>
        </p:nvSpPr>
        <p:spPr>
          <a:xfrm>
            <a:off x="1380960" y="5646600"/>
            <a:ext cx="7426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φ₃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33"/>
          <p:cNvSpPr/>
          <p:nvPr/>
        </p:nvSpPr>
        <p:spPr>
          <a:xfrm>
            <a:off x="2352600" y="5646600"/>
            <a:ext cx="85312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(x_old + 3·x_new + 2) &gt;&gt; 2 = ADD③(S + 2·x_new)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4"/>
          <p:cNvSpPr/>
          <p:nvPr/>
        </p:nvSpPr>
        <p:spPr>
          <a:xfrm>
            <a:off x="14277600" y="5686560"/>
            <a:ext cx="272988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redondeo </a:t>
            </a:r>
            <a:r>
              <a:rPr lang="en-US" sz="195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+2 </a:t>
            </a:r>
            <a:r>
              <a:rPr lang="en-US" sz="195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en carry-in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5"/>
          <p:cNvSpPr/>
          <p:nvPr/>
        </p:nvSpPr>
        <p:spPr>
          <a:xfrm>
            <a:off x="1047600" y="6654240"/>
            <a:ext cx="1667808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Anchos de bus. </a:t>
            </a:r>
            <a:r>
              <a:rPr lang="en-US" sz="195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S </a:t>
            </a:r>
            <a:r>
              <a:rPr lang="en-US" sz="195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es 7 b · ADD ② / ③ trabajan a 8 b · todas las φ se truncan a </a:t>
            </a:r>
            <a:r>
              <a:rPr lang="en-US" sz="19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6 b </a:t>
            </a:r>
            <a:r>
              <a:rPr lang="en-US" sz="195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de salida.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/>
          <p:nvPr/>
        </p:nvSpPr>
        <p:spPr>
          <a:xfrm>
            <a:off x="1047600" y="419040"/>
            <a:ext cx="5728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07 · CONT.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TEMPORIZACIÓN Y CONTROL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10946520" y="419040"/>
            <a:ext cx="6482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UNA VENTANA DE ENTRADA = 4 CICLOS DE SALIDA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"/>
          <p:cNvSpPr/>
          <p:nvPr/>
        </p:nvSpPr>
        <p:spPr>
          <a:xfrm>
            <a:off x="1047600" y="952560"/>
            <a:ext cx="166780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Una ventana de entrada = </a:t>
            </a:r>
            <a:r>
              <a:rPr lang="en-US" sz="4800" b="1" u="none" spc="-71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4 ciclos </a:t>
            </a: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de salida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1409760" y="2514600"/>
            <a:ext cx="674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75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- i_CK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a </a:t>
            </a: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4·f</a:t>
            </a:r>
            <a:r>
              <a:rPr lang="en-US" sz="2129" b="1" u="none" strike="noStrike" baseline="-40000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. El contador gira </a:t>
            </a:r>
            <a:r>
              <a:rPr lang="en-US" sz="25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0 → 1 → 2 → 3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4"/>
          <p:cNvSpPr/>
          <p:nvPr/>
        </p:nvSpPr>
        <p:spPr>
          <a:xfrm>
            <a:off x="1409760" y="3405960"/>
            <a:ext cx="613404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- sel = cuenta[1:0]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elige la fase: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6"/>
          <p:cNvSpPr/>
          <p:nvPr/>
        </p:nvSpPr>
        <p:spPr>
          <a:xfrm>
            <a:off x="1409760" y="3717000"/>
            <a:ext cx="67298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0 → φ₀ 1 → φ₁ 2 → φ₂ 3 → φ₃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7"/>
          <p:cNvSpPr/>
          <p:nvPr/>
        </p:nvSpPr>
        <p:spPr>
          <a:xfrm>
            <a:off x="1409760" y="4678200"/>
            <a:ext cx="6362640" cy="10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En la transición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3 → 0, </a:t>
            </a:r>
            <a:r>
              <a:rPr lang="en-US" sz="2550" b="0" u="none" strike="noStrike">
                <a:solidFill>
                  <a:srgbClr val="A975E0"/>
                </a:solidFill>
                <a:effectLst/>
                <a:uFillTx/>
                <a:latin typeface="Courier New"/>
                <a:ea typeface="Courier New"/>
              </a:rPr>
              <a:t>load_en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avanza la línea de retardo: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0"/>
          <p:cNvSpPr/>
          <p:nvPr/>
        </p:nvSpPr>
        <p:spPr>
          <a:xfrm>
            <a:off x="4862160" y="4592520"/>
            <a:ext cx="143604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1"/>
          <p:cNvSpPr/>
          <p:nvPr/>
        </p:nvSpPr>
        <p:spPr>
          <a:xfrm>
            <a:off x="1409760" y="4678200"/>
            <a:ext cx="6459120" cy="8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2"/>
          <p:cNvSpPr/>
          <p:nvPr/>
        </p:nvSpPr>
        <p:spPr>
          <a:xfrm>
            <a:off x="1409760" y="5578200"/>
            <a:ext cx="67298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x_old ← x_new, x_new ← i_D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3"/>
          <p:cNvSpPr/>
          <p:nvPr/>
        </p:nvSpPr>
        <p:spPr>
          <a:xfrm>
            <a:off x="1409760" y="6442920"/>
            <a:ext cx="6740640" cy="17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Latencia fija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: 1 muestra de entrada (se necesita x[n+1] para interpolar la ventana de x[n]) + 1 ciclo del registro de salida constante.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4"/>
          <p:cNvSpPr/>
          <p:nvPr/>
        </p:nvSpPr>
        <p:spPr>
          <a:xfrm>
            <a:off x="8477280" y="2118240"/>
            <a:ext cx="8762760" cy="7329960"/>
          </a:xfrm>
          <a:prstGeom prst="roundRect">
            <a:avLst>
              <a:gd name="adj" fmla="val 520"/>
            </a:avLst>
          </a:prstGeom>
          <a:solidFill>
            <a:srgbClr val="181E23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5"/>
          <p:cNvSpPr/>
          <p:nvPr/>
        </p:nvSpPr>
        <p:spPr>
          <a:xfrm>
            <a:off x="8789040" y="2392200"/>
            <a:ext cx="83829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500" b="0" u="none" spc="119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DIAGRAMA DE TIEMPOS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2" name="Image 0" descr="preencoded.png"/>
          <p:cNvPicPr/>
          <p:nvPr/>
        </p:nvPicPr>
        <p:blipFill>
          <a:blip r:embed="rId1"/>
          <a:stretch/>
        </p:blipFill>
        <p:spPr>
          <a:xfrm>
            <a:off x="8789040" y="2820960"/>
            <a:ext cx="8138880" cy="435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/>
          <p:nvPr/>
        </p:nvSpPr>
        <p:spPr>
          <a:xfrm>
            <a:off x="1047600" y="419040"/>
            <a:ext cx="7537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07 · CONT.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ARQUITECTURA OPTIMIZADA RECOMENDADA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12849120" y="419040"/>
            <a:ext cx="4522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REGISTRAR S + ADDER COMPARTIDO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"/>
          <p:cNvSpPr/>
          <p:nvPr/>
        </p:nvSpPr>
        <p:spPr>
          <a:xfrm>
            <a:off x="1047600" y="952560"/>
            <a:ext cx="166780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Registrar </a:t>
            </a:r>
            <a:r>
              <a:rPr lang="en-US" sz="4800" b="1" u="none" spc="-71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S </a:t>
            </a: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+ adder compartido </a:t>
            </a:r>
            <a:r>
              <a:rPr lang="en-US" sz="2700" b="1" u="none" spc="-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(MUX 3:1 en etapa rápida)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3"/>
          <p:cNvSpPr/>
          <p:nvPr/>
        </p:nvSpPr>
        <p:spPr>
          <a:xfrm>
            <a:off x="1047600" y="2118240"/>
            <a:ext cx="9524520" cy="7329960"/>
          </a:xfrm>
          <a:prstGeom prst="roundRect">
            <a:avLst>
              <a:gd name="adj" fmla="val 520"/>
            </a:avLst>
          </a:prstGeom>
          <a:solidFill>
            <a:srgbClr val="121212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7" name="Image 0" descr="preencoded.png"/>
          <p:cNvPicPr/>
          <p:nvPr/>
        </p:nvPicPr>
        <p:blipFill>
          <a:blip r:embed="rId1"/>
          <a:stretch/>
        </p:blipFill>
        <p:spPr>
          <a:xfrm>
            <a:off x="1949760" y="2315880"/>
            <a:ext cx="7720200" cy="693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Text 4"/>
          <p:cNvSpPr/>
          <p:nvPr/>
        </p:nvSpPr>
        <p:spPr>
          <a:xfrm>
            <a:off x="11391840" y="2215440"/>
            <a:ext cx="114156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ADD ①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5"/>
          <p:cNvSpPr/>
          <p:nvPr/>
        </p:nvSpPr>
        <p:spPr>
          <a:xfrm>
            <a:off x="12547440" y="2215440"/>
            <a:ext cx="10861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calcula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6"/>
          <p:cNvSpPr/>
          <p:nvPr/>
        </p:nvSpPr>
        <p:spPr>
          <a:xfrm>
            <a:off x="13647960" y="2129760"/>
            <a:ext cx="340200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S = x_old + x_new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7"/>
          <p:cNvSpPr/>
          <p:nvPr/>
        </p:nvSpPr>
        <p:spPr>
          <a:xfrm>
            <a:off x="11391840" y="2215440"/>
            <a:ext cx="5985000" cy="8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y se registra en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8"/>
          <p:cNvSpPr/>
          <p:nvPr/>
        </p:nvSpPr>
        <p:spPr>
          <a:xfrm>
            <a:off x="13436640" y="2652840"/>
            <a:ext cx="91656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S-reg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9"/>
          <p:cNvSpPr/>
          <p:nvPr/>
        </p:nvSpPr>
        <p:spPr>
          <a:xfrm>
            <a:off x="11391840" y="2652840"/>
            <a:ext cx="5865840" cy="8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(7 FF). Corre 1 vez por ventana.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0"/>
          <p:cNvSpPr/>
          <p:nvPr/>
        </p:nvSpPr>
        <p:spPr>
          <a:xfrm>
            <a:off x="11391840" y="3552840"/>
            <a:ext cx="602352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Camino x-reg → ADD① → S-reg ≈ </a:t>
            </a:r>
            <a:r>
              <a:rPr lang="en-US" sz="2100" b="1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0.79 ns 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, holgado.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1"/>
          <p:cNvSpPr/>
          <p:nvPr/>
        </p:nvSpPr>
        <p:spPr>
          <a:xfrm>
            <a:off x="11391840" y="4590000"/>
            <a:ext cx="211356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Cada ciclo, un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2"/>
          <p:cNvSpPr/>
          <p:nvPr/>
        </p:nvSpPr>
        <p:spPr>
          <a:xfrm>
            <a:off x="13519800" y="4590000"/>
            <a:ext cx="13489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MUX 3:1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3"/>
          <p:cNvSpPr/>
          <p:nvPr/>
        </p:nvSpPr>
        <p:spPr>
          <a:xfrm>
            <a:off x="11391840" y="4590000"/>
            <a:ext cx="4647240" cy="8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elige el operando y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4"/>
          <p:cNvSpPr/>
          <p:nvPr/>
        </p:nvSpPr>
        <p:spPr>
          <a:xfrm>
            <a:off x="11391840" y="5027400"/>
            <a:ext cx="4150080" cy="8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un único adder compartido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5"/>
          <p:cNvSpPr/>
          <p:nvPr/>
        </p:nvSpPr>
        <p:spPr>
          <a:xfrm>
            <a:off x="13251240" y="5464440"/>
            <a:ext cx="33289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produce la fase activa: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6"/>
          <p:cNvSpPr/>
          <p:nvPr/>
        </p:nvSpPr>
        <p:spPr>
          <a:xfrm>
            <a:off x="11391840" y="5927400"/>
            <a:ext cx="602352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φ₀ = x_old (bypass) · φ₁ / φ₃ = S + 2·x · φ₂ = (S + 1) &gt;&gt; 1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7"/>
          <p:cNvSpPr/>
          <p:nvPr/>
        </p:nvSpPr>
        <p:spPr>
          <a:xfrm>
            <a:off x="11391840" y="6964560"/>
            <a:ext cx="282492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Camino por-ciclo: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8"/>
          <p:cNvSpPr/>
          <p:nvPr/>
        </p:nvSpPr>
        <p:spPr>
          <a:xfrm>
            <a:off x="11391840" y="7427520"/>
            <a:ext cx="6023520" cy="11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t</a:t>
            </a:r>
            <a:r>
              <a:rPr lang="en-US" sz="1750" b="0" u="none" strike="noStrike" baseline="-40000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cq 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(S-reg) + MUX 3:1 + adder + setup ≈ 0.30 + 0.10 + 0.60 + 0.10 ≈ </a:t>
            </a: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1.1 ns → ~ 900 MHz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9"/>
          <p:cNvSpPr/>
          <p:nvPr/>
        </p:nvSpPr>
        <p:spPr>
          <a:xfrm>
            <a:off x="11391840" y="8814960"/>
            <a:ext cx="6034320" cy="13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Trade-off.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Elimina dos de los tres adders a costa de </a:t>
            </a: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+7 flip-flops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(S-reg). Mejor punto del frente de Pareto.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0"/>
          <p:cNvSpPr/>
          <p:nvPr/>
        </p:nvSpPr>
        <p:spPr>
          <a:xfrm>
            <a:off x="1047600" y="419040"/>
            <a:ext cx="7537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08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OTROS RESULTADOS · OPTIMIZACIONES EVALUADAS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"/>
          <p:cNvSpPr/>
          <p:nvPr/>
        </p:nvSpPr>
        <p:spPr>
          <a:xfrm>
            <a:off x="14752080" y="419040"/>
            <a:ext cx="2563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QUÉ ENTRA, QUÉ NO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"/>
          <p:cNvSpPr/>
          <p:nvPr/>
        </p:nvSpPr>
        <p:spPr>
          <a:xfrm>
            <a:off x="1047600" y="952560"/>
            <a:ext cx="166780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Qué se probó y por qué entra o no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3"/>
          <p:cNvSpPr/>
          <p:nvPr/>
        </p:nvSpPr>
        <p:spPr>
          <a:xfrm>
            <a:off x="1047600" y="2118240"/>
            <a:ext cx="16192080" cy="890640"/>
          </a:xfrm>
          <a:prstGeom prst="roundRect">
            <a:avLst>
              <a:gd name="adj" fmla="val 4277"/>
            </a:avLst>
          </a:prstGeom>
          <a:solidFill>
            <a:srgbClr val="1E2329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1359720" y="2354040"/>
            <a:ext cx="34272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6ED274"/>
                </a:solidFill>
                <a:effectLst/>
                <a:uFillTx/>
                <a:latin typeface="Courier New"/>
                <a:ea typeface="Courier New"/>
              </a:rPr>
              <a:t>✓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5"/>
          <p:cNvSpPr/>
          <p:nvPr/>
        </p:nvSpPr>
        <p:spPr>
          <a:xfrm>
            <a:off x="1855080" y="2413440"/>
            <a:ext cx="1552500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Registrar S entre parte lenta y rápida. </a:t>
            </a: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Palanca principal — convierte la cadena de adders en multiciclo real. </a:t>
            </a: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Adoptada.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6"/>
          <p:cNvSpPr/>
          <p:nvPr/>
        </p:nvSpPr>
        <p:spPr>
          <a:xfrm>
            <a:off x="1047600" y="3180600"/>
            <a:ext cx="16192080" cy="1250640"/>
          </a:xfrm>
          <a:prstGeom prst="roundRect">
            <a:avLst>
              <a:gd name="adj" fmla="val 3046"/>
            </a:avLst>
          </a:prstGeom>
          <a:solidFill>
            <a:srgbClr val="1E2329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7"/>
          <p:cNvSpPr/>
          <p:nvPr/>
        </p:nvSpPr>
        <p:spPr>
          <a:xfrm>
            <a:off x="1359720" y="3416400"/>
            <a:ext cx="34272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6ED274"/>
                </a:solidFill>
                <a:effectLst/>
                <a:uFillTx/>
                <a:latin typeface="Courier New"/>
                <a:ea typeface="Courier New"/>
              </a:rPr>
              <a:t>✓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8"/>
          <p:cNvSpPr/>
          <p:nvPr/>
        </p:nvSpPr>
        <p:spPr>
          <a:xfrm>
            <a:off x="1855080" y="3450600"/>
            <a:ext cx="15061320" cy="78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Adder compartido + MUX 3:1. </a:t>
            </a: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Aporta velocidad </a:t>
            </a:r>
            <a:r>
              <a:rPr lang="en-US" sz="2100" b="0" i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solo si </a:t>
            </a: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 está registrado; si no, el adder queda en el camino de 1 ciclo y empeora (~480 MHz). </a:t>
            </a: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Adoptada </a:t>
            </a: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junto con lo anterior.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9"/>
          <p:cNvSpPr/>
          <p:nvPr/>
        </p:nvSpPr>
        <p:spPr>
          <a:xfrm>
            <a:off x="1047600" y="4602960"/>
            <a:ext cx="16192080" cy="1250640"/>
          </a:xfrm>
          <a:prstGeom prst="roundRect">
            <a:avLst>
              <a:gd name="adj" fmla="val 3046"/>
            </a:avLst>
          </a:prstGeom>
          <a:solidFill>
            <a:srgbClr val="1E2329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0"/>
          <p:cNvSpPr/>
          <p:nvPr/>
        </p:nvSpPr>
        <p:spPr>
          <a:xfrm>
            <a:off x="1359720" y="4838760"/>
            <a:ext cx="34272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~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1"/>
          <p:cNvSpPr/>
          <p:nvPr/>
        </p:nvSpPr>
        <p:spPr>
          <a:xfrm>
            <a:off x="1855080" y="4873320"/>
            <a:ext cx="15525000" cy="78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DFF pulsado </a:t>
            </a: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(setup efectivo ≈ 0, time-borrowing). Ataca el overhead de FF, que es el cuello </a:t>
            </a:r>
            <a:r>
              <a:rPr lang="en-US" sz="2100" b="0" i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después </a:t>
            </a: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de registrar S. 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Vale la pena si la librería GF180 lo soporta; cuidado con hold.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2"/>
          <p:cNvSpPr/>
          <p:nvPr/>
        </p:nvSpPr>
        <p:spPr>
          <a:xfrm>
            <a:off x="1047600" y="6025680"/>
            <a:ext cx="16192080" cy="1250640"/>
          </a:xfrm>
          <a:prstGeom prst="roundRect">
            <a:avLst>
              <a:gd name="adj" fmla="val 3046"/>
            </a:avLst>
          </a:prstGeom>
          <a:solidFill>
            <a:srgbClr val="1E2329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3"/>
          <p:cNvSpPr/>
          <p:nvPr/>
        </p:nvSpPr>
        <p:spPr>
          <a:xfrm>
            <a:off x="1359720" y="6261120"/>
            <a:ext cx="34272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E85854"/>
                </a:solidFill>
                <a:effectLst/>
                <a:uFillTx/>
                <a:latin typeface="Courier New"/>
                <a:ea typeface="Courier New"/>
              </a:rPr>
              <a:t>✗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4"/>
          <p:cNvSpPr/>
          <p:nvPr/>
        </p:nvSpPr>
        <p:spPr>
          <a:xfrm>
            <a:off x="1855080" y="6320520"/>
            <a:ext cx="15061320" cy="7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Pipeline del CLA </a:t>
            </a: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(FFs internos). Redundante mientras el adder no sea el binding (ya tiene 4 ciclos). 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Solo si se empuja la etapa rápida al límite. </a:t>
            </a: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Descartada en la versión recomendada.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5"/>
          <p:cNvSpPr/>
          <p:nvPr/>
        </p:nvSpPr>
        <p:spPr>
          <a:xfrm>
            <a:off x="1047600" y="7448040"/>
            <a:ext cx="16192080" cy="1289880"/>
          </a:xfrm>
          <a:prstGeom prst="roundRect">
            <a:avLst>
              <a:gd name="adj" fmla="val 2953"/>
            </a:avLst>
          </a:prstGeom>
          <a:solidFill>
            <a:srgbClr val="1E2329"/>
          </a:solidFill>
          <a:ln w="7144">
            <a:solidFill>
              <a:srgbClr val="484E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6"/>
          <p:cNvSpPr/>
          <p:nvPr/>
        </p:nvSpPr>
        <p:spPr>
          <a:xfrm>
            <a:off x="1359720" y="7683480"/>
            <a:ext cx="34272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▪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7"/>
          <p:cNvSpPr/>
          <p:nvPr/>
        </p:nvSpPr>
        <p:spPr>
          <a:xfrm>
            <a:off x="1855080" y="7703640"/>
            <a:ext cx="1506132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CLA de 4 bits como primitiva. </a:t>
            </a: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Los adders anchos se construyen con bloques CLA de 4 b caracterizados 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(4b → 4b = 0.394 ns · 4b → 2×8b = 0.487 ns) </a:t>
            </a:r>
            <a:r>
              <a:rPr lang="en-US" sz="210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. Base de todas las estimaciones de timing.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0"/>
          <p:cNvSpPr/>
          <p:nvPr/>
        </p:nvSpPr>
        <p:spPr>
          <a:xfrm>
            <a:off x="1047600" y="419040"/>
            <a:ext cx="7688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08 · CONT.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FORMATO, REDONDEO Y OTROS RESULTADOS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"/>
          <p:cNvSpPr/>
          <p:nvPr/>
        </p:nvSpPr>
        <p:spPr>
          <a:xfrm>
            <a:off x="10800000" y="419040"/>
            <a:ext cx="6633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OFFSET BINARY · SATURACIÓN · TRADE-OFF DE Φ₂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"/>
          <p:cNvSpPr/>
          <p:nvPr/>
        </p:nvSpPr>
        <p:spPr>
          <a:xfrm>
            <a:off x="1047600" y="952560"/>
            <a:ext cx="166780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800" b="1" u="none" spc="-71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Offset binary, redondeo y exactitud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3"/>
          <p:cNvSpPr/>
          <p:nvPr/>
        </p:nvSpPr>
        <p:spPr>
          <a:xfrm>
            <a:off x="1409760" y="2169000"/>
            <a:ext cx="45284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Offset binary sin corrección.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4"/>
          <p:cNvSpPr/>
          <p:nvPr/>
        </p:nvSpPr>
        <p:spPr>
          <a:xfrm>
            <a:off x="1409760" y="2169000"/>
            <a:ext cx="1312200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Como la ganancia DC es unitaria (los pesos de cada fase suman 1), el offset de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5"/>
          <p:cNvSpPr/>
          <p:nvPr/>
        </p:nvSpPr>
        <p:spPr>
          <a:xfrm>
            <a:off x="4609080" y="2567160"/>
            <a:ext cx="65880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−32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6"/>
          <p:cNvSpPr/>
          <p:nvPr/>
        </p:nvSpPr>
        <p:spPr>
          <a:xfrm>
            <a:off x="5281920" y="2652840"/>
            <a:ext cx="516636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de cada operando se cancela solo.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7"/>
          <p:cNvSpPr/>
          <p:nvPr/>
        </p:nvSpPr>
        <p:spPr>
          <a:xfrm>
            <a:off x="1409760" y="3115440"/>
            <a:ext cx="141469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No hace falta lógica de conversión a complemento a 2.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8"/>
          <p:cNvSpPr/>
          <p:nvPr/>
        </p:nvSpPr>
        <p:spPr>
          <a:xfrm>
            <a:off x="1409760" y="3742200"/>
            <a:ext cx="1415772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Sin desbordamiento.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Las fases son combinaciones convexas de valores en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[0, 63]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→ ninguna excede 6 bits, no se necesita saturación.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9"/>
          <p:cNvSpPr/>
          <p:nvPr/>
        </p:nvSpPr>
        <p:spPr>
          <a:xfrm>
            <a:off x="1409760" y="5027040"/>
            <a:ext cx="248940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Trade-off de φ₂.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0"/>
          <p:cNvSpPr/>
          <p:nvPr/>
        </p:nvSpPr>
        <p:spPr>
          <a:xfrm>
            <a:off x="3913200" y="5027040"/>
            <a:ext cx="271656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Versión "free wire"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1"/>
          <p:cNvSpPr/>
          <p:nvPr/>
        </p:nvSpPr>
        <p:spPr>
          <a:xfrm>
            <a:off x="6640920" y="4941360"/>
            <a:ext cx="124164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S &gt;&gt; 1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2"/>
          <p:cNvSpPr/>
          <p:nvPr/>
        </p:nvSpPr>
        <p:spPr>
          <a:xfrm>
            <a:off x="1409760" y="5027040"/>
            <a:ext cx="1301580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= 0 compuertas pero con sesgo de ½ LSB; versión redondeada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3"/>
          <p:cNvSpPr/>
          <p:nvPr/>
        </p:nvSpPr>
        <p:spPr>
          <a:xfrm>
            <a:off x="4349880" y="5424840"/>
            <a:ext cx="24076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Courier New"/>
                <a:ea typeface="Courier New"/>
              </a:rPr>
              <a:t>(S + 1) &gt;&gt; 1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4"/>
          <p:cNvSpPr/>
          <p:nvPr/>
        </p:nvSpPr>
        <p:spPr>
          <a:xfrm>
            <a:off x="6771600" y="5510520"/>
            <a:ext cx="51886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1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= sin sesgo, ~ 6 medio-sumadores.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5"/>
          <p:cNvSpPr/>
          <p:nvPr/>
        </p:nvSpPr>
        <p:spPr>
          <a:xfrm>
            <a:off x="1409760" y="5973480"/>
            <a:ext cx="141469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Elegimos </a:t>
            </a: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[la que decidas] 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porque </a:t>
            </a:r>
            <a:r>
              <a:rPr lang="en-US" sz="2100" b="0" u="none" strike="noStrike">
                <a:solidFill>
                  <a:srgbClr val="F7AD30"/>
                </a:solidFill>
                <a:effectLst/>
                <a:uFillTx/>
                <a:latin typeface="Arial"/>
                <a:ea typeface="Arial"/>
              </a:rPr>
              <a:t>[justificación]</a:t>
            </a:r>
            <a:r>
              <a:rPr lang="en-US" sz="21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6"/>
          <p:cNvSpPr/>
          <p:nvPr/>
        </p:nvSpPr>
        <p:spPr>
          <a:xfrm>
            <a:off x="1409760" y="6600240"/>
            <a:ext cx="14157720" cy="98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550" b="0" i="1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(Opcional)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Exigencia mayor si el grupo es de 3: variante segmentada para f</a:t>
            </a:r>
            <a:r>
              <a:rPr lang="en-US" sz="2129" b="0" u="none" strike="noStrike" baseline="-40000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máx </a:t>
            </a:r>
            <a:r>
              <a:rPr lang="en-US" sz="2550" b="0" u="none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más alta, o análisis de error de cuantización de las 4 fases.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Text 0"/>
          <p:cNvSpPr/>
          <p:nvPr/>
        </p:nvSpPr>
        <p:spPr>
          <a:xfrm>
            <a:off x="1047600" y="419040"/>
            <a:ext cx="13932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§ — </a:t>
            </a:r>
            <a:r>
              <a:rPr lang="en-US" sz="1800" b="0" u="none" spc="71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FIN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"/>
          <p:cNvSpPr/>
          <p:nvPr/>
        </p:nvSpPr>
        <p:spPr>
          <a:xfrm>
            <a:off x="10653840" y="419040"/>
            <a:ext cx="6783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BAB7B2"/>
                </a:solidFill>
                <a:effectLst/>
                <a:uFillTx/>
                <a:latin typeface="Courier New"/>
                <a:ea typeface="Courier New"/>
              </a:rPr>
              <a:t>FILTRO DE INTERPOLACIÓN · L = 4 · 6 B · GF180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"/>
          <p:cNvSpPr/>
          <p:nvPr/>
        </p:nvSpPr>
        <p:spPr>
          <a:xfrm>
            <a:off x="1047600" y="3626280"/>
            <a:ext cx="166780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100" b="0" u="none" spc="337" strike="noStrike">
                <a:solidFill>
                  <a:srgbClr val="F7AD30"/>
                </a:solidFill>
                <a:effectLst/>
                <a:uFillTx/>
                <a:latin typeface="Courier New"/>
                <a:ea typeface="Courier New"/>
              </a:rPr>
              <a:t>RESUMEN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3"/>
          <p:cNvSpPr/>
          <p:nvPr/>
        </p:nvSpPr>
        <p:spPr>
          <a:xfrm>
            <a:off x="1047600" y="4214880"/>
            <a:ext cx="1667808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5400" b="1" u="none" spc="-108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20 FF · ≈ 50 compuertas equiv. · f</a:t>
            </a:r>
            <a:r>
              <a:rPr lang="en-US" sz="4500" b="1" u="none" spc="-108" strike="noStrike" baseline="-40000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máx </a:t>
            </a:r>
            <a:r>
              <a:rPr lang="en-US" sz="5400" b="1" u="none" spc="-108" strike="noStrike">
                <a:solidFill>
                  <a:srgbClr val="F3F2EE"/>
                </a:solidFill>
                <a:effectLst/>
                <a:uFillTx/>
                <a:latin typeface="Arial"/>
                <a:ea typeface="Arial"/>
              </a:rPr>
              <a:t>≈ 500 MHz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4"/>
          <p:cNvSpPr/>
          <p:nvPr/>
        </p:nvSpPr>
        <p:spPr>
          <a:xfrm>
            <a:off x="1047600" y="5376600"/>
            <a:ext cx="14715720" cy="11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3300" b="0" u="none" strike="noStrike">
                <a:solidFill>
                  <a:srgbClr val="BAB7B2"/>
                </a:solidFill>
                <a:effectLst/>
                <a:uFillTx/>
                <a:latin typeface="Arial"/>
                <a:ea typeface="Arial"/>
              </a:rPr>
              <a:t>Implementación de área mínima sobre GF180, ≈ 5× sobre el mínimo de 100 MHz exigido.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5"/>
          <p:cNvSpPr/>
          <p:nvPr/>
        </p:nvSpPr>
        <p:spPr>
          <a:xfrm>
            <a:off x="1047600" y="9140040"/>
            <a:ext cx="16678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7C8186"/>
                </a:solidFill>
                <a:effectLst/>
                <a:uFillTx/>
                <a:latin typeface="Courier New"/>
                <a:ea typeface="Courier New"/>
              </a:rPr>
              <a:t>PREGUNTAS · DISCUSIÓN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LibreOffice/26.2.3.2$Linux_X86_64 LibreOffice_project/7d74455cffae7a589951233f185ae0303c082020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2026-05-27T14:30:27Z</dcterms:created>
  <dc:creator>PptxGenJS</dc:creator>
  <dc:description/>
  <dc:language>en-US</dc:language>
  <cp:lastModifiedBy/>
  <dcterms:modified xsi:type="dcterms:W3CDTF">2026-05-27T10:47:04Z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